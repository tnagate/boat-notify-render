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⑤ 帝王切開" id="{eba56d53-10e0-4721-bb42-8b4229815822}">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帝王切開は、お腹と子宮の壁を切開して赤ちゃんを取り出す手術です。日本では現在、およそ5人に1人が帝王切開で生まれており、高齢妊娠の増加などを背景に年々増えています（2020年の医療施設調査で一般病院27.4%、診療所14.7%）。
大きく、あらかじめ日程を決めて行う『予定（選択的）帝王切開』と、妊娠・分娩中に母体や胎児の状態が悪化して急いで行う『緊急帝王切開』に分けられます。
予定帝王切開は、陣痛を経ずに早く生まれると新生児の呼吸障害が増えるため、原則37週以降、多くの施設では38週前後に行います。
緊急帝王切開のうち、母児の生命に関わる最も急ぐもの（グレードA）は、決定から30分以内に児を娩出することが目標とされています。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帝王切開を行う理由（適応）は、母体側・胎児側・分娩経過の3つに分けると整理しやすいです。
母体側：前回帝王切開や子宮筋腫の手術歴があると、陣痛で子宮の傷が裂ける（子宮破裂）おそれがあります。前置胎盤は胎盤が出口をふさいでいるため経腟分娩ができません。重症の妊娠高血圧症候群やHELLP症候群も適応になります。
胎児側：胎児機能不全（赤ちゃんが苦しいサイン）、逆子などの胎位異常、臍帯脱出、母子感染の予防などがあります。
分娩経過：陣痛が来てもお産が進まない分娩停止や、赤ちゃんの頭が骨盤を通れない児頭骨盤不均衡などです。
いずれも『経腟分娩より帝王切開の方が安全』と判断された場合に選択されます。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術の流れです。多くは脊髄くも膜下麻酔（下半身の麻酔）で行うため、お母さんは意識があり、生まれた直後の赤ちゃんの声を聞くことができます。一刻を争う超緊急の場合などは全身麻酔を選びますが、誤嚥や挿管困難、麻酔薬が胎盤を通って赤ちゃんが眠った状態で生まれる（sleeping baby）ことに注意が必要です。
皮膚は下腹部の横切開（Pfannenstiel切開）が一般的で、急ぐ時や広い視野が必要な時は縦切開を選びます。子宮は子宮下部の横切開が標準で、縦切開に比べて次回妊娠時の子宮破裂が起こりにくいのが利点です。子宮体部を縦に切る古典的縦切開は、子宮下部が十分に伸びていない早産や横位などで選ばれますが、次回の子宮破裂のリスクが高くなります。
執刀から赤ちゃんが出るまでは約5〜10分、その後胎盤を出し、子宮収縮薬で出血を抑えながら縫合して、手術全体ではおよそ1時間です。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帝王切開は安全性が高くなった手術ですが、開腹手術である以上、経腟分娩にはないリスクがあります。
母体では、出血、創部感染や子宮内膜炎、そして特に重要なのが静脈血栓塞栓症です。妊娠中は血液が固まりやすく、術後の安静でさらにリスクが上がるため、早期離床・弾性ストッキング・間欠的空気圧迫法、必要に応じて抗凝固療法で予防します。また癒着や術後の麻痺性イレウスもみられます。
次回の妊娠では、帝王切開後に経腟分娩を試みる（TOLAC）と約0.5〜1%で子宮破裂が起こるとされ、十分な説明と体制のもとで行います。また前置胎盤・癒着胎盤や、帝王切開の傷あとに着床する瘢痕部妊娠のリスクも高まります。
赤ちゃん側では、陣痛を経ずに生まれると肺の水の吸収が遅れ、新生児一過性多呼吸が起こりやすくなります。予定帝王切開を38週前後まで待つ理由の一つです。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最後に、今回の2症例のように胎児に先天性疾患がある場合の分娩についてです。
胎児に病気があるからといって、必ず帝王切開になるわけではありません。分娩方法は基本的に通常の妊娠と同じく産科的な適応で決めます。大切なのは『どこで・いつ産むか』で、胎児診断がついたら、出生直後から治療を始められるNICU・小児外科・小児循環器などがそろった周産期センターへ紹介し、日時を決めて産む『計画分娩』とします（上の流れ）。
横隔膜ヘルニアでは、生まれてすぐに挿管・人工呼吸管理が必要になるため、スタッフをそろえて計画分娩とし、施設によっては予定帝王切開を選びます。
肺動脈閉鎖・VSDのような動脈管依存性の心疾患では、動脈管が閉じると状態が悪化するため、出生後すぐにプロスタグランジンE1製剤で動脈管を開いたままにします。
十二指腸閉鎖では羊水過多になりやすく、早産や逆子、破水した時の臍帯脱出・胎盤早期剝離、産後の弛緩出血などに注意が必要で、結果として帝王切開になることもあります（⑥⑦⑧につなげる）。
※症例の実際の分娩方法・週数がわかれば、このスライドに追記してください。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⑤ 帝王切開とは</a:t>
            </a:r>
            <a:endParaRPr lang="en-US" sz="2600" dirty="0"/>
          </a:p>
        </p:txBody>
      </p:sp>
      <p:sp>
        <p:nvSpPr>
          <p:cNvPr id="3" name="def-decor"/>
          <p:cNvSpPr/>
          <p:nvPr/>
        </p:nvSpPr>
        <p:spPr>
          <a:xfrm>
            <a:off x="2331720" y="1051560"/>
            <a:ext cx="822960" cy="822960"/>
          </a:xfrm>
          <a:prstGeom prst="ellipse">
            <a:avLst/>
          </a:prstGeom>
          <a:solidFill>
            <a:schemeClr val="tx2">
              <a:alpha val="5000"/>
            </a:schemeClr>
          </a:solidFill>
          <a:ln/>
        </p:spPr>
      </p:sp>
      <p:sp>
        <p:nvSpPr>
          <p:cNvPr id="4" name="def-rule"/>
          <p:cNvSpPr/>
          <p:nvPr/>
        </p:nvSpPr>
        <p:spPr>
          <a:xfrm>
            <a:off x="457200" y="4526280"/>
            <a:ext cx="2743200" cy="0"/>
          </a:xfrm>
          <a:prstGeom prst="line">
            <a:avLst/>
          </a:prstGeom>
          <a:noFill/>
          <a:ln w="12700">
            <a:solidFill>
              <a:srgbClr val="BFBFBF"/>
            </a:solidFill>
            <a:prstDash val="solid"/>
          </a:ln>
        </p:spPr>
      </p:sp>
      <p:sp>
        <p:nvSpPr>
          <p:cNvPr id="5" name="Text 3"/>
          <p:cNvSpPr txBox="1"/>
          <p:nvPr/>
        </p:nvSpPr>
        <p:spPr>
          <a:xfrm>
            <a:off x="457200" y="1005840"/>
            <a:ext cx="2651760" cy="274320"/>
          </a:xfrm>
          <a:prstGeom prst="rect">
            <a:avLst/>
          </a:prstGeom>
          <a:noFill/>
          <a:ln/>
        </p:spPr>
        <p:txBody>
          <a:bodyPr wrap="square" lIns="0" tIns="0" rIns="0" bIns="0" rtlCol="0" anchor="ctr"/>
          <a:lstStyle/>
          <a:p>
            <a:pPr indent="0" marL="0">
              <a:buNone/>
            </a:pPr>
            <a:r>
              <a:rPr lang="en-US" sz="1400" b="1" dirty="0">
                <a:solidFill>
                  <a:schemeClr val="tx2"/>
                </a:solidFill>
              </a:rPr>
              <a:t>定義</a:t>
            </a:r>
            <a:endParaRPr lang="en-US" sz="1400" dirty="0"/>
          </a:p>
        </p:txBody>
      </p:sp>
      <p:sp>
        <p:nvSpPr>
          <p:cNvPr id="6" name="Text 4"/>
          <p:cNvSpPr txBox="1"/>
          <p:nvPr/>
        </p:nvSpPr>
        <p:spPr>
          <a:xfrm>
            <a:off x="457200" y="1325880"/>
            <a:ext cx="2651760" cy="731520"/>
          </a:xfrm>
          <a:prstGeom prst="rect">
            <a:avLst/>
          </a:prstGeom>
          <a:noFill/>
          <a:ln/>
        </p:spPr>
        <p:txBody>
          <a:bodyPr wrap="square" lIns="0" tIns="0" rIns="0" bIns="0" rtlCol="0" anchor="t"/>
          <a:lstStyle/>
          <a:p>
            <a:pPr indent="0" marL="0">
              <a:buNone/>
            </a:pPr>
            <a:r>
              <a:rPr lang="en-US" sz="1500" b="1" dirty="0">
                <a:solidFill>
                  <a:schemeClr val="tx1"/>
                </a:solidFill>
              </a:rPr>
              <a:t>お腹と子宮の壁を切開して、胎児を取り出す手術</a:t>
            </a:r>
            <a:endParaRPr lang="en-US" sz="1500" dirty="0"/>
          </a:p>
        </p:txBody>
      </p:sp>
      <p:sp>
        <p:nvSpPr>
          <p:cNvPr id="7" name="stat"/>
          <p:cNvSpPr txBox="1"/>
          <p:nvPr/>
        </p:nvSpPr>
        <p:spPr>
          <a:xfrm>
            <a:off x="457200" y="2103120"/>
            <a:ext cx="2651760" cy="502920"/>
          </a:xfrm>
          <a:prstGeom prst="rect">
            <a:avLst/>
          </a:prstGeom>
          <a:noFill/>
          <a:ln/>
        </p:spPr>
        <p:txBody>
          <a:bodyPr wrap="square" lIns="0" tIns="0" rIns="0" bIns="0" rtlCol="0" anchor="ctr"/>
          <a:lstStyle/>
          <a:p>
            <a:pPr indent="0" marL="0">
              <a:buNone/>
            </a:pPr>
            <a:r>
              <a:rPr lang="en-US" sz="3000" b="1" dirty="0">
                <a:solidFill>
                  <a:schemeClr val="tx2"/>
                </a:solidFill>
              </a:rPr>
              <a:t>約5人に1人</a:t>
            </a:r>
            <a:endParaRPr lang="en-US" sz="3000" dirty="0"/>
          </a:p>
        </p:txBody>
      </p:sp>
      <p:sp>
        <p:nvSpPr>
          <p:cNvPr id="8" name="pict-0-head"/>
          <p:cNvSpPr/>
          <p:nvPr/>
        </p:nvSpPr>
        <p:spPr>
          <a:xfrm>
            <a:off x="530352" y="2679192"/>
            <a:ext cx="155448" cy="155448"/>
          </a:xfrm>
          <a:prstGeom prst="ellipse">
            <a:avLst/>
          </a:prstGeom>
          <a:solidFill>
            <a:schemeClr val="tx2"/>
          </a:solidFill>
          <a:ln/>
        </p:spPr>
      </p:sp>
      <p:sp>
        <p:nvSpPr>
          <p:cNvPr id="9" name="pict-0-body"/>
          <p:cNvSpPr/>
          <p:nvPr/>
        </p:nvSpPr>
        <p:spPr>
          <a:xfrm>
            <a:off x="475488" y="2862072"/>
            <a:ext cx="265176" cy="265176"/>
          </a:xfrm>
          <a:prstGeom prst="round2SameRect">
            <a:avLst/>
          </a:prstGeom>
          <a:solidFill>
            <a:schemeClr val="tx2"/>
          </a:solidFill>
          <a:ln/>
        </p:spPr>
      </p:sp>
      <p:sp>
        <p:nvSpPr>
          <p:cNvPr id="10" name="pict-1-head"/>
          <p:cNvSpPr/>
          <p:nvPr/>
        </p:nvSpPr>
        <p:spPr>
          <a:xfrm>
            <a:off x="941832" y="2679192"/>
            <a:ext cx="155448" cy="155448"/>
          </a:xfrm>
          <a:prstGeom prst="ellipse">
            <a:avLst/>
          </a:prstGeom>
          <a:solidFill>
            <a:srgbClr val="A6A6A6"/>
          </a:solidFill>
          <a:ln/>
        </p:spPr>
      </p:sp>
      <p:sp>
        <p:nvSpPr>
          <p:cNvPr id="11" name="pict-1-body"/>
          <p:cNvSpPr/>
          <p:nvPr/>
        </p:nvSpPr>
        <p:spPr>
          <a:xfrm>
            <a:off x="886968" y="2862072"/>
            <a:ext cx="265176" cy="265176"/>
          </a:xfrm>
          <a:prstGeom prst="round2SameRect">
            <a:avLst/>
          </a:prstGeom>
          <a:solidFill>
            <a:srgbClr val="A6A6A6"/>
          </a:solidFill>
          <a:ln/>
        </p:spPr>
      </p:sp>
      <p:sp>
        <p:nvSpPr>
          <p:cNvPr id="12" name="pict-2-head"/>
          <p:cNvSpPr/>
          <p:nvPr/>
        </p:nvSpPr>
        <p:spPr>
          <a:xfrm>
            <a:off x="1353312" y="2679192"/>
            <a:ext cx="155448" cy="155448"/>
          </a:xfrm>
          <a:prstGeom prst="ellipse">
            <a:avLst/>
          </a:prstGeom>
          <a:solidFill>
            <a:srgbClr val="A6A6A6"/>
          </a:solidFill>
          <a:ln/>
        </p:spPr>
      </p:sp>
      <p:sp>
        <p:nvSpPr>
          <p:cNvPr id="13" name="pict-2-body"/>
          <p:cNvSpPr/>
          <p:nvPr/>
        </p:nvSpPr>
        <p:spPr>
          <a:xfrm>
            <a:off x="1298448" y="2862072"/>
            <a:ext cx="265176" cy="265176"/>
          </a:xfrm>
          <a:prstGeom prst="round2SameRect">
            <a:avLst/>
          </a:prstGeom>
          <a:solidFill>
            <a:srgbClr val="A6A6A6"/>
          </a:solidFill>
          <a:ln/>
        </p:spPr>
      </p:sp>
      <p:sp>
        <p:nvSpPr>
          <p:cNvPr id="14" name="pict-3-head"/>
          <p:cNvSpPr/>
          <p:nvPr/>
        </p:nvSpPr>
        <p:spPr>
          <a:xfrm>
            <a:off x="1764792" y="2679192"/>
            <a:ext cx="155448" cy="155448"/>
          </a:xfrm>
          <a:prstGeom prst="ellipse">
            <a:avLst/>
          </a:prstGeom>
          <a:solidFill>
            <a:srgbClr val="A6A6A6"/>
          </a:solidFill>
          <a:ln/>
        </p:spPr>
      </p:sp>
      <p:sp>
        <p:nvSpPr>
          <p:cNvPr id="15" name="pict-3-body"/>
          <p:cNvSpPr/>
          <p:nvPr/>
        </p:nvSpPr>
        <p:spPr>
          <a:xfrm>
            <a:off x="1709928" y="2862072"/>
            <a:ext cx="265176" cy="265176"/>
          </a:xfrm>
          <a:prstGeom prst="round2SameRect">
            <a:avLst/>
          </a:prstGeom>
          <a:solidFill>
            <a:srgbClr val="A6A6A6"/>
          </a:solidFill>
          <a:ln/>
        </p:spPr>
      </p:sp>
      <p:sp>
        <p:nvSpPr>
          <p:cNvPr id="16" name="pict-4-head"/>
          <p:cNvSpPr/>
          <p:nvPr/>
        </p:nvSpPr>
        <p:spPr>
          <a:xfrm>
            <a:off x="2176272" y="2679192"/>
            <a:ext cx="155448" cy="155448"/>
          </a:xfrm>
          <a:prstGeom prst="ellipse">
            <a:avLst/>
          </a:prstGeom>
          <a:solidFill>
            <a:srgbClr val="A6A6A6"/>
          </a:solidFill>
          <a:ln/>
        </p:spPr>
      </p:sp>
      <p:sp>
        <p:nvSpPr>
          <p:cNvPr id="17" name="pict-4-body"/>
          <p:cNvSpPr/>
          <p:nvPr/>
        </p:nvSpPr>
        <p:spPr>
          <a:xfrm>
            <a:off x="2121408" y="2862072"/>
            <a:ext cx="265176" cy="265176"/>
          </a:xfrm>
          <a:prstGeom prst="round2SameRect">
            <a:avLst/>
          </a:prstGeom>
          <a:solidFill>
            <a:srgbClr val="A6A6A6"/>
          </a:solidFill>
          <a:ln/>
        </p:spPr>
      </p:sp>
      <p:sp>
        <p:nvSpPr>
          <p:cNvPr id="18" name="Text 16"/>
          <p:cNvSpPr txBox="1"/>
          <p:nvPr/>
        </p:nvSpPr>
        <p:spPr>
          <a:xfrm>
            <a:off x="457200" y="3218688"/>
            <a:ext cx="2651760" cy="457200"/>
          </a:xfrm>
          <a:prstGeom prst="rect">
            <a:avLst/>
          </a:prstGeom>
          <a:noFill/>
          <a:ln/>
        </p:spPr>
        <p:txBody>
          <a:bodyPr wrap="square" lIns="0" tIns="0" rIns="0" bIns="0" rtlCol="0" anchor="t"/>
          <a:lstStyle/>
          <a:p>
            <a:pPr indent="0" marL="0">
              <a:buNone/>
            </a:pPr>
            <a:r>
              <a:rPr lang="en-US" sz="1200" dirty="0">
                <a:solidFill>
                  <a:schemeClr val="tx1"/>
                </a:solidFill>
              </a:rPr>
              <a:t>日本のお産のうち帝王切開で生まれる割合（約20%）。年々増加している</a:t>
            </a:r>
            <a:endParaRPr lang="en-US" sz="1200" dirty="0"/>
          </a:p>
        </p:txBody>
      </p:sp>
      <p:sp>
        <p:nvSpPr>
          <p:cNvPr id="19" name="Text 17"/>
          <p:cNvSpPr txBox="1"/>
          <p:nvPr/>
        </p:nvSpPr>
        <p:spPr>
          <a:xfrm>
            <a:off x="457200" y="3767328"/>
            <a:ext cx="2651760" cy="548640"/>
          </a:xfrm>
          <a:prstGeom prst="rect">
            <a:avLst/>
          </a:prstGeom>
          <a:noFill/>
          <a:ln/>
        </p:spPr>
        <p:txBody>
          <a:bodyPr wrap="square" lIns="0" tIns="0" rIns="0" bIns="0" rtlCol="0" anchor="t"/>
          <a:lstStyle/>
          <a:p>
            <a:pPr indent="0" marL="0">
              <a:buNone/>
            </a:pPr>
            <a:r>
              <a:rPr lang="en-US" sz="1300" dirty="0">
                <a:solidFill>
                  <a:schemeClr val="accent5"/>
                </a:solidFill>
              </a:rPr>
              <a:t>一般病院 約27%・診療所 約15%</a:t>
            </a:r>
            <a:endParaRPr lang="en-US" sz="1300" dirty="0"/>
          </a:p>
          <a:p>
            <a:pPr indent="0" marL="0">
              <a:buNone/>
            </a:pPr>
            <a:r>
              <a:rPr lang="en-US" sz="1300" dirty="0">
                <a:solidFill>
                  <a:schemeClr val="accent5"/>
                </a:solidFill>
              </a:rPr>
              <a:t>（2020年 医療施設調査）</a:t>
            </a:r>
            <a:endParaRPr lang="en-US" sz="1300" dirty="0"/>
          </a:p>
        </p:txBody>
      </p:sp>
      <p:sp>
        <p:nvSpPr>
          <p:cNvPr id="20" name="type-0-decor"/>
          <p:cNvSpPr/>
          <p:nvPr/>
        </p:nvSpPr>
        <p:spPr>
          <a:xfrm>
            <a:off x="7818120" y="1051560"/>
            <a:ext cx="822960" cy="822960"/>
          </a:xfrm>
          <a:prstGeom prst="triangle">
            <a:avLst/>
          </a:prstGeom>
          <a:solidFill>
            <a:schemeClr val="tx2">
              <a:alpha val="5000"/>
            </a:schemeClr>
          </a:solidFill>
          <a:ln/>
        </p:spPr>
      </p:sp>
      <p:sp>
        <p:nvSpPr>
          <p:cNvPr id="21" name="type-0-rule"/>
          <p:cNvSpPr/>
          <p:nvPr/>
        </p:nvSpPr>
        <p:spPr>
          <a:xfrm>
            <a:off x="3520440" y="2651760"/>
            <a:ext cx="5166360" cy="0"/>
          </a:xfrm>
          <a:prstGeom prst="line">
            <a:avLst/>
          </a:prstGeom>
          <a:noFill/>
          <a:ln w="12700">
            <a:solidFill>
              <a:srgbClr val="BFBFBF"/>
            </a:solidFill>
            <a:prstDash val="solid"/>
          </a:ln>
        </p:spPr>
      </p:sp>
      <p:sp>
        <p:nvSpPr>
          <p:cNvPr id="22" name="Text 20"/>
          <p:cNvSpPr txBox="1"/>
          <p:nvPr/>
        </p:nvSpPr>
        <p:spPr>
          <a:xfrm>
            <a:off x="3520440" y="1005840"/>
            <a:ext cx="5074920" cy="457200"/>
          </a:xfrm>
          <a:prstGeom prst="rect">
            <a:avLst/>
          </a:prstGeom>
          <a:noFill/>
          <a:ln/>
        </p:spPr>
        <p:txBody>
          <a:bodyPr wrap="square" lIns="0" tIns="0" rIns="0" bIns="0" rtlCol="0" anchor="ctr"/>
          <a:lstStyle/>
          <a:p>
            <a:pPr indent="0" marL="0">
              <a:buNone/>
            </a:pPr>
            <a:r>
              <a:rPr lang="en-US" sz="1600" b="1" dirty="0">
                <a:solidFill>
                  <a:schemeClr val="accent2"/>
                </a:solidFill>
              </a:rPr>
              <a:t>予定（選択的）帝王切開</a:t>
            </a:r>
            <a:endParaRPr lang="en-US" sz="1600" dirty="0"/>
          </a:p>
        </p:txBody>
      </p:sp>
      <p:sp>
        <p:nvSpPr>
          <p:cNvPr id="23" name="Text 21"/>
          <p:cNvSpPr txBox="1"/>
          <p:nvPr/>
        </p:nvSpPr>
        <p:spPr>
          <a:xfrm>
            <a:off x="3520440" y="1508760"/>
            <a:ext cx="5074920" cy="1051560"/>
          </a:xfrm>
          <a:prstGeom prst="rect">
            <a:avLst/>
          </a:prstGeom>
          <a:noFill/>
          <a:ln/>
        </p:spPr>
        <p:txBody>
          <a:bodyPr wrap="square" lIns="0" tIns="0" rIns="0" bIns="0" rtlCol="0" anchor="t"/>
          <a:lstStyle/>
          <a:p>
            <a:pPr marL="152400" indent="-152400">
              <a:spcAft>
                <a:spcPts val="200"/>
              </a:spcAft>
              <a:buSzPct val="100000"/>
              <a:buChar char="•"/>
            </a:pPr>
            <a:r>
              <a:rPr lang="en-US" sz="1400" dirty="0">
                <a:solidFill>
                  <a:schemeClr val="tx1"/>
                </a:solidFill>
              </a:rPr>
              <a:t>陣痛が来る前に、日時を決めて行う</a:t>
            </a:r>
            <a:endParaRPr lang="en-US" sz="1400" dirty="0"/>
          </a:p>
          <a:p>
            <a:pPr marL="152400" indent="-152400">
              <a:spcAft>
                <a:spcPts val="200"/>
              </a:spcAft>
              <a:buSzPct val="100000"/>
              <a:buChar char="•"/>
            </a:pPr>
            <a:r>
              <a:rPr lang="en-US" sz="1400" dirty="0">
                <a:solidFill>
                  <a:schemeClr val="tx1"/>
                </a:solidFill>
              </a:rPr>
              <a:t>時期：原則 妊娠37週以降（多くは38週前後）</a:t>
            </a:r>
            <a:endParaRPr lang="en-US" sz="1400" dirty="0"/>
          </a:p>
          <a:p>
            <a:pPr marL="152400" indent="-152400">
              <a:spcAft>
                <a:spcPts val="200"/>
              </a:spcAft>
              <a:buSzPct val="100000"/>
              <a:buChar char="•"/>
            </a:pPr>
            <a:r>
              <a:rPr lang="en-US" sz="1400" dirty="0">
                <a:solidFill>
                  <a:schemeClr val="tx1"/>
                </a:solidFill>
              </a:rPr>
              <a:t>例：既往帝王切開、骨盤位、前置胎盤</a:t>
            </a:r>
            <a:endParaRPr lang="en-US" sz="1400" dirty="0"/>
          </a:p>
        </p:txBody>
      </p:sp>
      <p:sp>
        <p:nvSpPr>
          <p:cNvPr id="24" name="type-1-decor"/>
          <p:cNvSpPr/>
          <p:nvPr/>
        </p:nvSpPr>
        <p:spPr>
          <a:xfrm>
            <a:off x="7818120" y="2926080"/>
            <a:ext cx="822960" cy="822960"/>
          </a:xfrm>
          <a:prstGeom prst="rect">
            <a:avLst/>
          </a:prstGeom>
          <a:solidFill>
            <a:schemeClr val="tx2">
              <a:alpha val="5000"/>
            </a:schemeClr>
          </a:solidFill>
          <a:ln/>
        </p:spPr>
      </p:sp>
      <p:sp>
        <p:nvSpPr>
          <p:cNvPr id="25" name="type-1-rule"/>
          <p:cNvSpPr/>
          <p:nvPr/>
        </p:nvSpPr>
        <p:spPr>
          <a:xfrm>
            <a:off x="3520440" y="4526280"/>
            <a:ext cx="5166360" cy="0"/>
          </a:xfrm>
          <a:prstGeom prst="line">
            <a:avLst/>
          </a:prstGeom>
          <a:noFill/>
          <a:ln w="12700">
            <a:solidFill>
              <a:srgbClr val="BFBFBF"/>
            </a:solidFill>
            <a:prstDash val="solid"/>
          </a:ln>
        </p:spPr>
      </p:sp>
      <p:sp>
        <p:nvSpPr>
          <p:cNvPr id="26" name="Text 24"/>
          <p:cNvSpPr txBox="1"/>
          <p:nvPr/>
        </p:nvSpPr>
        <p:spPr>
          <a:xfrm>
            <a:off x="3520440" y="2880360"/>
            <a:ext cx="5074920" cy="457200"/>
          </a:xfrm>
          <a:prstGeom prst="rect">
            <a:avLst/>
          </a:prstGeom>
          <a:noFill/>
          <a:ln/>
        </p:spPr>
        <p:txBody>
          <a:bodyPr wrap="square" lIns="0" tIns="0" rIns="0" bIns="0" rtlCol="0" anchor="ctr"/>
          <a:lstStyle/>
          <a:p>
            <a:pPr indent="0" marL="0">
              <a:buNone/>
            </a:pPr>
            <a:r>
              <a:rPr lang="en-US" sz="1600" b="1" dirty="0">
                <a:solidFill>
                  <a:schemeClr val="accent3"/>
                </a:solidFill>
              </a:rPr>
              <a:t>緊急帝王切開</a:t>
            </a:r>
            <a:endParaRPr lang="en-US" sz="1600" dirty="0"/>
          </a:p>
        </p:txBody>
      </p:sp>
      <p:sp>
        <p:nvSpPr>
          <p:cNvPr id="27" name="Text 25"/>
          <p:cNvSpPr txBox="1"/>
          <p:nvPr/>
        </p:nvSpPr>
        <p:spPr>
          <a:xfrm>
            <a:off x="3520440" y="3383280"/>
            <a:ext cx="5074920" cy="1051560"/>
          </a:xfrm>
          <a:prstGeom prst="rect">
            <a:avLst/>
          </a:prstGeom>
          <a:noFill/>
          <a:ln/>
        </p:spPr>
        <p:txBody>
          <a:bodyPr wrap="square" lIns="0" tIns="0" rIns="0" bIns="0" rtlCol="0" anchor="t"/>
          <a:lstStyle/>
          <a:p>
            <a:pPr marL="152400" indent="-152400">
              <a:spcAft>
                <a:spcPts val="200"/>
              </a:spcAft>
              <a:buSzPct val="100000"/>
              <a:buChar char="•"/>
            </a:pPr>
            <a:r>
              <a:rPr lang="en-US" sz="1400" dirty="0">
                <a:solidFill>
                  <a:schemeClr val="tx1"/>
                </a:solidFill>
              </a:rPr>
              <a:t>母体・胎児の急変や分娩停止で急いで行う</a:t>
            </a:r>
            <a:endParaRPr lang="en-US" sz="1400" dirty="0"/>
          </a:p>
          <a:p>
            <a:pPr marL="152400" indent="-152400">
              <a:spcAft>
                <a:spcPts val="200"/>
              </a:spcAft>
              <a:buSzPct val="100000"/>
              <a:buChar char="•"/>
            </a:pPr>
            <a:r>
              <a:rPr lang="en-US" sz="1400" dirty="0">
                <a:solidFill>
                  <a:schemeClr val="tx1"/>
                </a:solidFill>
              </a:rPr>
              <a:t>超緊急（グレードA）は決定から30分以内の娩出が目標</a:t>
            </a:r>
            <a:endParaRPr lang="en-US" sz="1400" dirty="0"/>
          </a:p>
          <a:p>
            <a:pPr marL="152400" indent="-152400">
              <a:spcAft>
                <a:spcPts val="200"/>
              </a:spcAft>
              <a:buSzPct val="100000"/>
              <a:buChar char="•"/>
            </a:pPr>
            <a:r>
              <a:rPr lang="en-US" sz="1400" dirty="0">
                <a:solidFill>
                  <a:schemeClr val="tx1"/>
                </a:solidFill>
              </a:rPr>
              <a:t>例：胎児機能不全、常位胎盤早期剝離、臍帯脱出</a:t>
            </a:r>
            <a:endParaRPr lang="en-US" sz="1400" dirty="0"/>
          </a:p>
        </p:txBody>
      </p:sp>
      <p:sp>
        <p:nvSpPr>
          <p:cNvPr id="28" name="source"/>
          <p:cNvSpPr txBox="1"/>
          <p:nvPr/>
        </p:nvSpPr>
        <p:spPr>
          <a:xfrm>
            <a:off x="457200" y="4727448"/>
            <a:ext cx="7680960" cy="274320"/>
          </a:xfrm>
          <a:prstGeom prst="rect">
            <a:avLst/>
          </a:prstGeom>
          <a:noFill/>
          <a:ln/>
        </p:spPr>
        <p:txBody>
          <a:bodyPr wrap="square" lIns="0" tIns="0" rIns="0" bIns="0" rtlCol="0" anchor="ctr"/>
          <a:lstStyle/>
          <a:p>
            <a:pPr indent="0" marL="0">
              <a:buNone/>
            </a:pPr>
            <a:r>
              <a:rPr lang="en-US" sz="1300" dirty="0">
                <a:solidFill>
                  <a:schemeClr val="accent5"/>
                </a:solidFill>
              </a:rPr>
              <a:t>参考：産婦人科診療ガイドライン 産科編2023／病気がみえる vol.10 産科</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帝王切開の適応</a:t>
            </a:r>
            <a:endParaRPr lang="en-US" sz="2600" dirty="0"/>
          </a:p>
        </p:txBody>
      </p:sp>
      <p:sp>
        <p:nvSpPr>
          <p:cNvPr id="3" name="indic-0-decor"/>
          <p:cNvSpPr/>
          <p:nvPr/>
        </p:nvSpPr>
        <p:spPr>
          <a:xfrm>
            <a:off x="2148840" y="1051560"/>
            <a:ext cx="822960" cy="822960"/>
          </a:xfrm>
          <a:prstGeom prst="ellipse">
            <a:avLst/>
          </a:prstGeom>
          <a:solidFill>
            <a:schemeClr val="tx2">
              <a:alpha val="5000"/>
            </a:schemeClr>
          </a:solidFill>
          <a:ln/>
        </p:spPr>
      </p:sp>
      <p:sp>
        <p:nvSpPr>
          <p:cNvPr id="4" name="indic-0-rule"/>
          <p:cNvSpPr/>
          <p:nvPr/>
        </p:nvSpPr>
        <p:spPr>
          <a:xfrm>
            <a:off x="457200" y="3931920"/>
            <a:ext cx="2560320" cy="0"/>
          </a:xfrm>
          <a:prstGeom prst="line">
            <a:avLst/>
          </a:prstGeom>
          <a:noFill/>
          <a:ln w="12700">
            <a:solidFill>
              <a:srgbClr val="BFBFBF"/>
            </a:solidFill>
            <a:prstDash val="solid"/>
          </a:ln>
        </p:spPr>
      </p:sp>
      <p:sp>
        <p:nvSpPr>
          <p:cNvPr id="5" name="Text 3"/>
          <p:cNvSpPr txBox="1"/>
          <p:nvPr/>
        </p:nvSpPr>
        <p:spPr>
          <a:xfrm>
            <a:off x="457200" y="1005840"/>
            <a:ext cx="2560320" cy="475488"/>
          </a:xfrm>
          <a:prstGeom prst="rect">
            <a:avLst/>
          </a:prstGeom>
          <a:noFill/>
          <a:ln/>
        </p:spPr>
        <p:txBody>
          <a:bodyPr wrap="square" lIns="0" tIns="0" rIns="0" bIns="0" rtlCol="0" anchor="ctr"/>
          <a:lstStyle/>
          <a:p>
            <a:pPr indent="0" marL="0">
              <a:buNone/>
            </a:pPr>
            <a:r>
              <a:rPr lang="en-US" sz="1600" b="1" dirty="0">
                <a:solidFill>
                  <a:schemeClr val="tx2"/>
                </a:solidFill>
              </a:rPr>
              <a:t>母体側の理由</a:t>
            </a:r>
            <a:endParaRPr lang="en-US" sz="1600" dirty="0"/>
          </a:p>
        </p:txBody>
      </p:sp>
      <p:sp>
        <p:nvSpPr>
          <p:cNvPr id="6" name="Text 4"/>
          <p:cNvSpPr txBox="1"/>
          <p:nvPr/>
        </p:nvSpPr>
        <p:spPr>
          <a:xfrm>
            <a:off x="457200" y="1645920"/>
            <a:ext cx="2560320" cy="21945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既往帝王切開・子宮の手術後</a:t>
            </a:r>
            <a:endParaRPr lang="en-US" sz="1400" dirty="0"/>
          </a:p>
          <a:p>
            <a:pPr marL="152400" indent="-152400">
              <a:spcAft>
                <a:spcPts val="500"/>
              </a:spcAft>
              <a:buSzPct val="100000"/>
              <a:buChar char="•"/>
            </a:pPr>
            <a:r>
              <a:rPr lang="en-US" sz="1400" dirty="0">
                <a:solidFill>
                  <a:schemeClr val="tx1"/>
                </a:solidFill>
              </a:rPr>
              <a:t>前置胎盤</a:t>
            </a:r>
            <a:endParaRPr lang="en-US" sz="1400" dirty="0"/>
          </a:p>
          <a:p>
            <a:pPr marL="152400" indent="-152400">
              <a:spcAft>
                <a:spcPts val="500"/>
              </a:spcAft>
              <a:buSzPct val="100000"/>
              <a:buChar char="•"/>
            </a:pPr>
            <a:r>
              <a:rPr lang="en-US" sz="1400" dirty="0">
                <a:solidFill>
                  <a:schemeClr val="tx1"/>
                </a:solidFill>
              </a:rPr>
              <a:t>常位胎盤早期剝離</a:t>
            </a:r>
            <a:endParaRPr lang="en-US" sz="1400" dirty="0"/>
          </a:p>
          <a:p>
            <a:pPr marL="152400" indent="-152400">
              <a:spcAft>
                <a:spcPts val="500"/>
              </a:spcAft>
              <a:buSzPct val="100000"/>
              <a:buChar char="•"/>
            </a:pPr>
            <a:r>
              <a:rPr lang="en-US" sz="1400" dirty="0">
                <a:solidFill>
                  <a:schemeClr val="tx1"/>
                </a:solidFill>
              </a:rPr>
              <a:t>重症の妊娠高血圧症候群</a:t>
            </a:r>
            <a:endParaRPr lang="en-US" sz="1400" dirty="0"/>
          </a:p>
          <a:p>
            <a:pPr marL="152400" indent="-152400">
              <a:spcAft>
                <a:spcPts val="500"/>
              </a:spcAft>
              <a:buSzPct val="100000"/>
              <a:buChar char="•"/>
            </a:pPr>
            <a:r>
              <a:rPr lang="en-US" sz="1400" dirty="0">
                <a:solidFill>
                  <a:schemeClr val="tx1"/>
                </a:solidFill>
              </a:rPr>
              <a:t>母体合併症（心疾患など）</a:t>
            </a:r>
            <a:endParaRPr lang="en-US" sz="1400" dirty="0"/>
          </a:p>
        </p:txBody>
      </p:sp>
      <p:sp>
        <p:nvSpPr>
          <p:cNvPr id="7" name="indic-1-decor"/>
          <p:cNvSpPr/>
          <p:nvPr/>
        </p:nvSpPr>
        <p:spPr>
          <a:xfrm>
            <a:off x="4983480" y="1051560"/>
            <a:ext cx="822960" cy="822960"/>
          </a:xfrm>
          <a:prstGeom prst="triangle">
            <a:avLst/>
          </a:prstGeom>
          <a:solidFill>
            <a:schemeClr val="tx2">
              <a:alpha val="5000"/>
            </a:schemeClr>
          </a:solidFill>
          <a:ln/>
        </p:spPr>
      </p:sp>
      <p:sp>
        <p:nvSpPr>
          <p:cNvPr id="8" name="indic-1-rule"/>
          <p:cNvSpPr/>
          <p:nvPr/>
        </p:nvSpPr>
        <p:spPr>
          <a:xfrm>
            <a:off x="3291840" y="3931920"/>
            <a:ext cx="2560320" cy="0"/>
          </a:xfrm>
          <a:prstGeom prst="line">
            <a:avLst/>
          </a:prstGeom>
          <a:noFill/>
          <a:ln w="12700">
            <a:solidFill>
              <a:srgbClr val="BFBFBF"/>
            </a:solidFill>
            <a:prstDash val="solid"/>
          </a:ln>
        </p:spPr>
      </p:sp>
      <p:sp>
        <p:nvSpPr>
          <p:cNvPr id="9" name="Text 7"/>
          <p:cNvSpPr txBox="1"/>
          <p:nvPr/>
        </p:nvSpPr>
        <p:spPr>
          <a:xfrm>
            <a:off x="3291840" y="1005840"/>
            <a:ext cx="2560320" cy="475488"/>
          </a:xfrm>
          <a:prstGeom prst="rect">
            <a:avLst/>
          </a:prstGeom>
          <a:noFill/>
          <a:ln/>
        </p:spPr>
        <p:txBody>
          <a:bodyPr wrap="square" lIns="0" tIns="0" rIns="0" bIns="0" rtlCol="0" anchor="ctr"/>
          <a:lstStyle/>
          <a:p>
            <a:pPr indent="0" marL="0">
              <a:buNone/>
            </a:pPr>
            <a:r>
              <a:rPr lang="en-US" sz="1600" b="1" dirty="0">
                <a:solidFill>
                  <a:schemeClr val="tx2"/>
                </a:solidFill>
              </a:rPr>
              <a:t>胎児側の理由</a:t>
            </a:r>
            <a:endParaRPr lang="en-US" sz="1600" dirty="0"/>
          </a:p>
        </p:txBody>
      </p:sp>
      <p:sp>
        <p:nvSpPr>
          <p:cNvPr id="10" name="Text 8"/>
          <p:cNvSpPr txBox="1"/>
          <p:nvPr/>
        </p:nvSpPr>
        <p:spPr>
          <a:xfrm>
            <a:off x="3291840" y="1645920"/>
            <a:ext cx="2560320" cy="21945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胎児機能不全</a:t>
            </a:r>
            <a:endParaRPr lang="en-US" sz="1400" dirty="0"/>
          </a:p>
          <a:p>
            <a:pPr marL="152400" indent="-152400">
              <a:spcAft>
                <a:spcPts val="500"/>
              </a:spcAft>
              <a:buSzPct val="100000"/>
              <a:buChar char="•"/>
            </a:pPr>
            <a:r>
              <a:rPr lang="en-US" sz="1400" dirty="0">
                <a:solidFill>
                  <a:schemeClr val="tx1"/>
                </a:solidFill>
              </a:rPr>
              <a:t>骨盤位・横位（胎位異常）</a:t>
            </a:r>
            <a:endParaRPr lang="en-US" sz="1400" dirty="0"/>
          </a:p>
          <a:p>
            <a:pPr marL="152400" indent="-152400">
              <a:spcAft>
                <a:spcPts val="500"/>
              </a:spcAft>
              <a:buSzPct val="100000"/>
              <a:buChar char="•"/>
            </a:pPr>
            <a:r>
              <a:rPr lang="en-US" sz="1400" dirty="0">
                <a:solidFill>
                  <a:schemeClr val="tx1"/>
                </a:solidFill>
              </a:rPr>
              <a:t>臍帯脱出</a:t>
            </a:r>
            <a:endParaRPr lang="en-US" sz="1400" dirty="0"/>
          </a:p>
          <a:p>
            <a:pPr marL="152400" indent="-152400">
              <a:spcAft>
                <a:spcPts val="500"/>
              </a:spcAft>
              <a:buSzPct val="100000"/>
              <a:buChar char="•"/>
            </a:pPr>
            <a:r>
              <a:rPr lang="en-US" sz="1400" dirty="0">
                <a:solidFill>
                  <a:schemeClr val="tx1"/>
                </a:solidFill>
              </a:rPr>
              <a:t>多胎（第1子が非頭位など）</a:t>
            </a:r>
            <a:endParaRPr lang="en-US" sz="1400" dirty="0"/>
          </a:p>
          <a:p>
            <a:pPr marL="152400" indent="-152400">
              <a:spcAft>
                <a:spcPts val="500"/>
              </a:spcAft>
              <a:buSzPct val="100000"/>
              <a:buChar char="•"/>
            </a:pPr>
            <a:r>
              <a:rPr lang="en-US" sz="1400" dirty="0">
                <a:solidFill>
                  <a:schemeClr val="tx1"/>
                </a:solidFill>
              </a:rPr>
              <a:t>母子感染予防（性器ヘルペス・HIV）</a:t>
            </a:r>
            <a:endParaRPr lang="en-US" sz="1400" dirty="0"/>
          </a:p>
        </p:txBody>
      </p:sp>
      <p:sp>
        <p:nvSpPr>
          <p:cNvPr id="11" name="indic-2-decor"/>
          <p:cNvSpPr/>
          <p:nvPr/>
        </p:nvSpPr>
        <p:spPr>
          <a:xfrm>
            <a:off x="7818120" y="1051560"/>
            <a:ext cx="822960" cy="822960"/>
          </a:xfrm>
          <a:prstGeom prst="rect">
            <a:avLst/>
          </a:prstGeom>
          <a:solidFill>
            <a:schemeClr val="tx2">
              <a:alpha val="5000"/>
            </a:schemeClr>
          </a:solidFill>
          <a:ln/>
        </p:spPr>
      </p:sp>
      <p:sp>
        <p:nvSpPr>
          <p:cNvPr id="12" name="indic-2-rule"/>
          <p:cNvSpPr/>
          <p:nvPr/>
        </p:nvSpPr>
        <p:spPr>
          <a:xfrm>
            <a:off x="6126480" y="3931920"/>
            <a:ext cx="2560320" cy="0"/>
          </a:xfrm>
          <a:prstGeom prst="line">
            <a:avLst/>
          </a:prstGeom>
          <a:noFill/>
          <a:ln w="12700">
            <a:solidFill>
              <a:srgbClr val="BFBFBF"/>
            </a:solidFill>
            <a:prstDash val="solid"/>
          </a:ln>
        </p:spPr>
      </p:sp>
      <p:sp>
        <p:nvSpPr>
          <p:cNvPr id="13" name="Text 11"/>
          <p:cNvSpPr txBox="1"/>
          <p:nvPr/>
        </p:nvSpPr>
        <p:spPr>
          <a:xfrm>
            <a:off x="6126480" y="1005840"/>
            <a:ext cx="2560320" cy="475488"/>
          </a:xfrm>
          <a:prstGeom prst="rect">
            <a:avLst/>
          </a:prstGeom>
          <a:noFill/>
          <a:ln/>
        </p:spPr>
        <p:txBody>
          <a:bodyPr wrap="square" lIns="0" tIns="0" rIns="0" bIns="0" rtlCol="0" anchor="ctr"/>
          <a:lstStyle/>
          <a:p>
            <a:pPr indent="0" marL="0">
              <a:buNone/>
            </a:pPr>
            <a:r>
              <a:rPr lang="en-US" sz="1600" b="1" dirty="0">
                <a:solidFill>
                  <a:schemeClr val="tx2"/>
                </a:solidFill>
              </a:rPr>
              <a:t>分娩経過の理由</a:t>
            </a:r>
            <a:endParaRPr lang="en-US" sz="1600" dirty="0"/>
          </a:p>
        </p:txBody>
      </p:sp>
      <p:sp>
        <p:nvSpPr>
          <p:cNvPr id="14" name="Text 12"/>
          <p:cNvSpPr txBox="1"/>
          <p:nvPr/>
        </p:nvSpPr>
        <p:spPr>
          <a:xfrm>
            <a:off x="6126480" y="1645920"/>
            <a:ext cx="2560320" cy="21945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分娩停止・遷延分娩</a:t>
            </a:r>
            <a:endParaRPr lang="en-US" sz="1400" dirty="0"/>
          </a:p>
          <a:p>
            <a:pPr marL="152400" indent="-152400">
              <a:spcAft>
                <a:spcPts val="500"/>
              </a:spcAft>
              <a:buSzPct val="100000"/>
              <a:buChar char="•"/>
            </a:pPr>
            <a:r>
              <a:rPr lang="en-US" sz="1400" dirty="0">
                <a:solidFill>
                  <a:schemeClr val="tx1"/>
                </a:solidFill>
              </a:rPr>
              <a:t>児頭骨盤不均衡（CPD）</a:t>
            </a:r>
            <a:endParaRPr lang="en-US" sz="1400" dirty="0"/>
          </a:p>
          <a:p>
            <a:pPr marL="152400" indent="-152400">
              <a:spcAft>
                <a:spcPts val="500"/>
              </a:spcAft>
              <a:buSzPct val="100000"/>
              <a:buChar char="•"/>
            </a:pPr>
            <a:r>
              <a:rPr lang="en-US" sz="1400" dirty="0">
                <a:solidFill>
                  <a:schemeClr val="tx1"/>
                </a:solidFill>
              </a:rPr>
              <a:t>回旋異常</a:t>
            </a:r>
            <a:endParaRPr lang="en-US" sz="1400" dirty="0"/>
          </a:p>
          <a:p>
            <a:pPr marL="152400" indent="-152400">
              <a:spcAft>
                <a:spcPts val="500"/>
              </a:spcAft>
              <a:buSzPct val="100000"/>
              <a:buChar char="•"/>
            </a:pPr>
            <a:r>
              <a:rPr lang="en-US" sz="1400" dirty="0">
                <a:solidFill>
                  <a:schemeClr val="tx1"/>
                </a:solidFill>
              </a:rPr>
              <a:t>分娩誘発の不成功</a:t>
            </a:r>
            <a:endParaRPr lang="en-US" sz="1400" dirty="0"/>
          </a:p>
        </p:txBody>
      </p:sp>
      <p:sp>
        <p:nvSpPr>
          <p:cNvPr id="15" name="Text 13"/>
          <p:cNvSpPr txBox="1"/>
          <p:nvPr/>
        </p:nvSpPr>
        <p:spPr>
          <a:xfrm>
            <a:off x="457200" y="4069080"/>
            <a:ext cx="8229600" cy="512064"/>
          </a:xfrm>
          <a:prstGeom prst="rect">
            <a:avLst/>
          </a:prstGeom>
          <a:noFill/>
          <a:ln/>
        </p:spPr>
        <p:txBody>
          <a:bodyPr wrap="square" lIns="0" tIns="0" rIns="0" bIns="0" rtlCol="0" anchor="ctr"/>
          <a:lstStyle/>
          <a:p>
            <a:pPr indent="0" marL="0">
              <a:buNone/>
            </a:pPr>
            <a:r>
              <a:rPr lang="en-US" sz="1500" b="1" dirty="0">
                <a:solidFill>
                  <a:schemeClr val="tx2"/>
                </a:solidFill>
              </a:rPr>
              <a:t>「経腟分娩より帝王切開の方が、母児にとって安全」と判断されたときに選ぶ</a:t>
            </a:r>
            <a:endParaRPr lang="en-US" sz="1500" dirty="0"/>
          </a:p>
        </p:txBody>
      </p:sp>
      <p:sp>
        <p:nvSpPr>
          <p:cNvPr id="16" name="source"/>
          <p:cNvSpPr txBox="1"/>
          <p:nvPr/>
        </p:nvSpPr>
        <p:spPr>
          <a:xfrm>
            <a:off x="457200" y="4727448"/>
            <a:ext cx="7680960" cy="274320"/>
          </a:xfrm>
          <a:prstGeom prst="rect">
            <a:avLst/>
          </a:prstGeom>
          <a:noFill/>
          <a:ln/>
        </p:spPr>
        <p:txBody>
          <a:bodyPr wrap="square" lIns="0" tIns="0" rIns="0" bIns="0" rtlCol="0" anchor="ctr"/>
          <a:lstStyle/>
          <a:p>
            <a:pPr indent="0" marL="0">
              <a:buNone/>
            </a:pPr>
            <a:r>
              <a:rPr lang="en-US" sz="1300" dirty="0">
                <a:solidFill>
                  <a:schemeClr val="accent5"/>
                </a:solidFill>
              </a:rPr>
              <a:t>参考：産婦人科診療ガイドライン 産科編2023／病気がみえる vol.10 産科</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帝王切開の流れ</a:t>
            </a:r>
            <a:endParaRPr lang="en-US" sz="2600" dirty="0"/>
          </a:p>
        </p:txBody>
      </p:sp>
      <p:sp>
        <p:nvSpPr>
          <p:cNvPr id="3" name="flow-line"/>
          <p:cNvSpPr/>
          <p:nvPr/>
        </p:nvSpPr>
        <p:spPr>
          <a:xfrm>
            <a:off x="1074420" y="1257300"/>
            <a:ext cx="6995160" cy="0"/>
          </a:xfrm>
          <a:prstGeom prst="line">
            <a:avLst/>
          </a:prstGeom>
          <a:noFill/>
          <a:ln w="25400">
            <a:solidFill>
              <a:srgbClr val="BFBFBF"/>
            </a:solidFill>
            <a:prstDash val="solid"/>
          </a:ln>
        </p:spPr>
      </p:sp>
      <p:sp>
        <p:nvSpPr>
          <p:cNvPr id="4" name="step-0-circle"/>
          <p:cNvSpPr/>
          <p:nvPr/>
        </p:nvSpPr>
        <p:spPr>
          <a:xfrm>
            <a:off x="822960" y="1005840"/>
            <a:ext cx="502920" cy="502920"/>
          </a:xfrm>
          <a:prstGeom prst="ellipse">
            <a:avLst/>
          </a:prstGeom>
          <a:solidFill>
            <a:schemeClr val="tx2"/>
          </a:solidFill>
          <a:ln/>
        </p:spPr>
      </p:sp>
      <p:sp>
        <p:nvSpPr>
          <p:cNvPr id="5" name="Text 3"/>
          <p:cNvSpPr txBox="1"/>
          <p:nvPr/>
        </p:nvSpPr>
        <p:spPr>
          <a:xfrm>
            <a:off x="822960"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457200"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麻酔</a:t>
            </a:r>
            <a:endParaRPr lang="en-US" sz="1400" dirty="0"/>
          </a:p>
        </p:txBody>
      </p:sp>
      <p:sp>
        <p:nvSpPr>
          <p:cNvPr id="7" name="Text 5"/>
          <p:cNvSpPr txBox="1"/>
          <p:nvPr/>
        </p:nvSpPr>
        <p:spPr>
          <a:xfrm>
            <a:off x="457200"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脊髄くも膜下麻酔が主流</a:t>
            </a:r>
            <a:endParaRPr lang="en-US" sz="1200" dirty="0"/>
          </a:p>
        </p:txBody>
      </p:sp>
      <p:sp>
        <p:nvSpPr>
          <p:cNvPr id="8" name="step-1-circle"/>
          <p:cNvSpPr/>
          <p:nvPr/>
        </p:nvSpPr>
        <p:spPr>
          <a:xfrm>
            <a:off x="2221992" y="1005840"/>
            <a:ext cx="502920" cy="502920"/>
          </a:xfrm>
          <a:prstGeom prst="ellipse">
            <a:avLst/>
          </a:prstGeom>
          <a:solidFill>
            <a:schemeClr val="tx2"/>
          </a:solidFill>
          <a:ln/>
        </p:spPr>
      </p:sp>
      <p:sp>
        <p:nvSpPr>
          <p:cNvPr id="9" name="Text 7"/>
          <p:cNvSpPr txBox="1"/>
          <p:nvPr/>
        </p:nvSpPr>
        <p:spPr>
          <a:xfrm>
            <a:off x="2221992"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856232"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皮膚切開</a:t>
            </a:r>
            <a:endParaRPr lang="en-US" sz="1400" dirty="0"/>
          </a:p>
        </p:txBody>
      </p:sp>
      <p:sp>
        <p:nvSpPr>
          <p:cNvPr id="11" name="Text 9"/>
          <p:cNvSpPr txBox="1"/>
          <p:nvPr/>
        </p:nvSpPr>
        <p:spPr>
          <a:xfrm>
            <a:off x="1856232"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下腹部を横または縦に切開</a:t>
            </a:r>
            <a:endParaRPr lang="en-US" sz="1200" dirty="0"/>
          </a:p>
        </p:txBody>
      </p:sp>
      <p:sp>
        <p:nvSpPr>
          <p:cNvPr id="12" name="step-2-circle"/>
          <p:cNvSpPr/>
          <p:nvPr/>
        </p:nvSpPr>
        <p:spPr>
          <a:xfrm>
            <a:off x="3621024" y="1005840"/>
            <a:ext cx="502920" cy="502920"/>
          </a:xfrm>
          <a:prstGeom prst="ellipse">
            <a:avLst/>
          </a:prstGeom>
          <a:solidFill>
            <a:schemeClr val="tx2"/>
          </a:solidFill>
          <a:ln/>
        </p:spPr>
      </p:sp>
      <p:sp>
        <p:nvSpPr>
          <p:cNvPr id="13" name="Text 11"/>
          <p:cNvSpPr txBox="1"/>
          <p:nvPr/>
        </p:nvSpPr>
        <p:spPr>
          <a:xfrm>
            <a:off x="3621024"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3255264"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子宮切開</a:t>
            </a:r>
            <a:endParaRPr lang="en-US" sz="1400" dirty="0"/>
          </a:p>
        </p:txBody>
      </p:sp>
      <p:sp>
        <p:nvSpPr>
          <p:cNvPr id="15" name="Text 13"/>
          <p:cNvSpPr txBox="1"/>
          <p:nvPr/>
        </p:nvSpPr>
        <p:spPr>
          <a:xfrm>
            <a:off x="3255264"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子宮下部の横切開が標準</a:t>
            </a:r>
            <a:endParaRPr lang="en-US" sz="1200" dirty="0"/>
          </a:p>
        </p:txBody>
      </p:sp>
      <p:sp>
        <p:nvSpPr>
          <p:cNvPr id="16" name="step-3-circle"/>
          <p:cNvSpPr/>
          <p:nvPr/>
        </p:nvSpPr>
        <p:spPr>
          <a:xfrm>
            <a:off x="5020056" y="1005840"/>
            <a:ext cx="502920" cy="502920"/>
          </a:xfrm>
          <a:prstGeom prst="ellipse">
            <a:avLst/>
          </a:prstGeom>
          <a:solidFill>
            <a:schemeClr val="accent3"/>
          </a:solidFill>
          <a:ln/>
        </p:spPr>
      </p:sp>
      <p:sp>
        <p:nvSpPr>
          <p:cNvPr id="17" name="Text 15"/>
          <p:cNvSpPr txBox="1"/>
          <p:nvPr/>
        </p:nvSpPr>
        <p:spPr>
          <a:xfrm>
            <a:off x="5020056"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4654296"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児娩出</a:t>
            </a:r>
            <a:endParaRPr lang="en-US" sz="1400" dirty="0"/>
          </a:p>
        </p:txBody>
      </p:sp>
      <p:sp>
        <p:nvSpPr>
          <p:cNvPr id="19" name="Text 17"/>
          <p:cNvSpPr txBox="1"/>
          <p:nvPr/>
        </p:nvSpPr>
        <p:spPr>
          <a:xfrm>
            <a:off x="4654296"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執刀後5〜10分</a:t>
            </a:r>
            <a:endParaRPr lang="en-US" sz="1200" dirty="0"/>
          </a:p>
        </p:txBody>
      </p:sp>
      <p:sp>
        <p:nvSpPr>
          <p:cNvPr id="20" name="step-4-circle"/>
          <p:cNvSpPr/>
          <p:nvPr/>
        </p:nvSpPr>
        <p:spPr>
          <a:xfrm>
            <a:off x="6419088" y="1005840"/>
            <a:ext cx="502920" cy="502920"/>
          </a:xfrm>
          <a:prstGeom prst="ellipse">
            <a:avLst/>
          </a:prstGeom>
          <a:solidFill>
            <a:schemeClr val="tx2"/>
          </a:solidFill>
          <a:ln/>
        </p:spPr>
      </p:sp>
      <p:sp>
        <p:nvSpPr>
          <p:cNvPr id="21" name="Text 19"/>
          <p:cNvSpPr txBox="1"/>
          <p:nvPr/>
        </p:nvSpPr>
        <p:spPr>
          <a:xfrm>
            <a:off x="6419088"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6053328"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胎盤娩出</a:t>
            </a:r>
            <a:endParaRPr lang="en-US" sz="1400" dirty="0"/>
          </a:p>
        </p:txBody>
      </p:sp>
      <p:sp>
        <p:nvSpPr>
          <p:cNvPr id="23" name="Text 21"/>
          <p:cNvSpPr txBox="1"/>
          <p:nvPr/>
        </p:nvSpPr>
        <p:spPr>
          <a:xfrm>
            <a:off x="6053328"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子宮収縮薬で出血を抑える</a:t>
            </a:r>
            <a:endParaRPr lang="en-US" sz="1200" dirty="0"/>
          </a:p>
        </p:txBody>
      </p:sp>
      <p:sp>
        <p:nvSpPr>
          <p:cNvPr id="24" name="step-5-circle"/>
          <p:cNvSpPr/>
          <p:nvPr/>
        </p:nvSpPr>
        <p:spPr>
          <a:xfrm>
            <a:off x="7818120" y="1005840"/>
            <a:ext cx="502920" cy="502920"/>
          </a:xfrm>
          <a:prstGeom prst="ellipse">
            <a:avLst/>
          </a:prstGeom>
          <a:solidFill>
            <a:schemeClr val="tx2"/>
          </a:solidFill>
          <a:ln/>
        </p:spPr>
      </p:sp>
      <p:sp>
        <p:nvSpPr>
          <p:cNvPr id="25" name="Text 23"/>
          <p:cNvSpPr txBox="1"/>
          <p:nvPr/>
        </p:nvSpPr>
        <p:spPr>
          <a:xfrm>
            <a:off x="7818120" y="1005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4"/>
          <p:cNvSpPr txBox="1"/>
          <p:nvPr/>
        </p:nvSpPr>
        <p:spPr>
          <a:xfrm>
            <a:off x="7452360" y="1600200"/>
            <a:ext cx="1234440" cy="292608"/>
          </a:xfrm>
          <a:prstGeom prst="rect">
            <a:avLst/>
          </a:prstGeom>
          <a:noFill/>
          <a:ln/>
        </p:spPr>
        <p:txBody>
          <a:bodyPr wrap="square" lIns="0" tIns="0" rIns="0" bIns="0" rtlCol="0" anchor="ctr"/>
          <a:lstStyle/>
          <a:p>
            <a:pPr algn="ctr" indent="0" marL="0">
              <a:buNone/>
            </a:pPr>
            <a:r>
              <a:rPr lang="en-US" sz="1400" b="1" dirty="0">
                <a:solidFill>
                  <a:schemeClr val="tx1"/>
                </a:solidFill>
              </a:rPr>
              <a:t>縫合・閉腹</a:t>
            </a:r>
            <a:endParaRPr lang="en-US" sz="1400" dirty="0"/>
          </a:p>
        </p:txBody>
      </p:sp>
      <p:sp>
        <p:nvSpPr>
          <p:cNvPr id="27" name="Text 25"/>
          <p:cNvSpPr txBox="1"/>
          <p:nvPr/>
        </p:nvSpPr>
        <p:spPr>
          <a:xfrm>
            <a:off x="7452360" y="1901952"/>
            <a:ext cx="1234440" cy="658368"/>
          </a:xfrm>
          <a:prstGeom prst="rect">
            <a:avLst/>
          </a:prstGeom>
          <a:noFill/>
          <a:ln/>
        </p:spPr>
        <p:txBody>
          <a:bodyPr wrap="square" lIns="0" tIns="0" rIns="0" bIns="0" rtlCol="0" anchor="t"/>
          <a:lstStyle/>
          <a:p>
            <a:pPr algn="ctr" indent="0" marL="0">
              <a:buNone/>
            </a:pPr>
            <a:r>
              <a:rPr lang="en-US" sz="1200" dirty="0">
                <a:solidFill>
                  <a:schemeClr val="accent5"/>
                </a:solidFill>
              </a:rPr>
              <a:t>全体で約1時間</a:t>
            </a:r>
            <a:endParaRPr lang="en-US" sz="1200" dirty="0"/>
          </a:p>
        </p:txBody>
      </p:sp>
      <p:sp>
        <p:nvSpPr>
          <p:cNvPr id="28" name="flow-box-0-decor"/>
          <p:cNvSpPr/>
          <p:nvPr/>
        </p:nvSpPr>
        <p:spPr>
          <a:xfrm>
            <a:off x="3566160" y="2560320"/>
            <a:ext cx="822960" cy="822960"/>
          </a:xfrm>
          <a:prstGeom prst="ellipse">
            <a:avLst/>
          </a:prstGeom>
          <a:solidFill>
            <a:schemeClr val="tx2">
              <a:alpha val="5000"/>
            </a:schemeClr>
          </a:solidFill>
          <a:ln/>
        </p:spPr>
      </p:sp>
      <p:sp>
        <p:nvSpPr>
          <p:cNvPr id="29" name="flow-box-0-rule"/>
          <p:cNvSpPr/>
          <p:nvPr/>
        </p:nvSpPr>
        <p:spPr>
          <a:xfrm>
            <a:off x="457200" y="4572000"/>
            <a:ext cx="3977640" cy="0"/>
          </a:xfrm>
          <a:prstGeom prst="line">
            <a:avLst/>
          </a:prstGeom>
          <a:noFill/>
          <a:ln w="12700">
            <a:solidFill>
              <a:srgbClr val="BFBFBF"/>
            </a:solidFill>
            <a:prstDash val="solid"/>
          </a:ln>
        </p:spPr>
      </p:sp>
      <p:sp>
        <p:nvSpPr>
          <p:cNvPr id="30" name="Text 28"/>
          <p:cNvSpPr txBox="1"/>
          <p:nvPr/>
        </p:nvSpPr>
        <p:spPr>
          <a:xfrm>
            <a:off x="457200" y="2532888"/>
            <a:ext cx="3886200" cy="384048"/>
          </a:xfrm>
          <a:prstGeom prst="rect">
            <a:avLst/>
          </a:prstGeom>
          <a:noFill/>
          <a:ln/>
        </p:spPr>
        <p:txBody>
          <a:bodyPr wrap="square" lIns="0" tIns="0" rIns="0" bIns="0" rtlCol="0" anchor="ctr"/>
          <a:lstStyle/>
          <a:p>
            <a:pPr indent="0" marL="0">
              <a:buNone/>
            </a:pPr>
            <a:r>
              <a:rPr lang="en-US" sz="1600" b="1" dirty="0">
                <a:solidFill>
                  <a:schemeClr val="tx2"/>
                </a:solidFill>
              </a:rPr>
              <a:t>麻酔</a:t>
            </a:r>
            <a:endParaRPr lang="en-US" sz="1600" dirty="0"/>
          </a:p>
        </p:txBody>
      </p:sp>
      <p:sp>
        <p:nvSpPr>
          <p:cNvPr id="31" name="Text 29"/>
          <p:cNvSpPr txBox="1"/>
          <p:nvPr/>
        </p:nvSpPr>
        <p:spPr>
          <a:xfrm>
            <a:off x="457200" y="3017520"/>
            <a:ext cx="3840480" cy="1371600"/>
          </a:xfrm>
          <a:prstGeom prst="rect">
            <a:avLst/>
          </a:prstGeom>
          <a:noFill/>
          <a:ln/>
        </p:spPr>
        <p:txBody>
          <a:bodyPr wrap="square" lIns="0" tIns="0" rIns="0" bIns="0" rtlCol="0" anchor="t"/>
          <a:lstStyle/>
          <a:p>
            <a:pPr indent="0" marL="0">
              <a:buNone/>
            </a:pPr>
            <a:r>
              <a:rPr lang="en-US" sz="1300" b="1" dirty="0">
                <a:solidFill>
                  <a:schemeClr val="tx1"/>
                </a:solidFill>
              </a:rPr>
              <a:t>脊髄くも膜下麻酔（＋硬膜外麻酔）</a:t>
            </a:r>
            <a:endParaRPr lang="en-US" sz="1300" dirty="0"/>
          </a:p>
          <a:p>
            <a:pPr indent="0" marL="0">
              <a:spcAft>
                <a:spcPts val="600"/>
              </a:spcAft>
              <a:buNone/>
            </a:pPr>
            <a:r>
              <a:rPr lang="en-US" sz="1300" dirty="0">
                <a:solidFill>
                  <a:schemeClr val="tx1"/>
                </a:solidFill>
              </a:rPr>
              <a:t>母は意識があり、産声を聞ける</a:t>
            </a:r>
            <a:endParaRPr lang="en-US" sz="1300" dirty="0"/>
          </a:p>
          <a:p>
            <a:pPr indent="0" marL="0">
              <a:buNone/>
            </a:pPr>
            <a:r>
              <a:rPr lang="en-US" sz="1300" b="1" dirty="0">
                <a:solidFill>
                  <a:schemeClr val="tx1"/>
                </a:solidFill>
              </a:rPr>
              <a:t>全身麻酔（超緊急時など）</a:t>
            </a:r>
            <a:endParaRPr lang="en-US" sz="1300" dirty="0"/>
          </a:p>
          <a:p>
            <a:pPr indent="0" marL="0">
              <a:buNone/>
            </a:pPr>
            <a:r>
              <a:rPr lang="en-US" sz="1300" dirty="0">
                <a:solidFill>
                  <a:schemeClr val="tx1"/>
                </a:solidFill>
              </a:rPr>
              <a:t>導入は速いが、誤嚥・挿管困難や児への麻酔薬移行に注意</a:t>
            </a:r>
            <a:endParaRPr lang="en-US" sz="1300" dirty="0"/>
          </a:p>
        </p:txBody>
      </p:sp>
      <p:sp>
        <p:nvSpPr>
          <p:cNvPr id="32" name="flow-box-1-decor"/>
          <p:cNvSpPr/>
          <p:nvPr/>
        </p:nvSpPr>
        <p:spPr>
          <a:xfrm>
            <a:off x="7818120" y="2560320"/>
            <a:ext cx="822960" cy="822960"/>
          </a:xfrm>
          <a:prstGeom prst="triangle">
            <a:avLst/>
          </a:prstGeom>
          <a:solidFill>
            <a:schemeClr val="tx2">
              <a:alpha val="5000"/>
            </a:schemeClr>
          </a:solidFill>
          <a:ln/>
        </p:spPr>
      </p:sp>
      <p:sp>
        <p:nvSpPr>
          <p:cNvPr id="33" name="flow-box-1-rule"/>
          <p:cNvSpPr/>
          <p:nvPr/>
        </p:nvSpPr>
        <p:spPr>
          <a:xfrm>
            <a:off x="4709160" y="4572000"/>
            <a:ext cx="3977640" cy="0"/>
          </a:xfrm>
          <a:prstGeom prst="line">
            <a:avLst/>
          </a:prstGeom>
          <a:noFill/>
          <a:ln w="12700">
            <a:solidFill>
              <a:srgbClr val="BFBFBF"/>
            </a:solidFill>
            <a:prstDash val="solid"/>
          </a:ln>
        </p:spPr>
      </p:sp>
      <p:sp>
        <p:nvSpPr>
          <p:cNvPr id="34" name="Text 32"/>
          <p:cNvSpPr txBox="1"/>
          <p:nvPr/>
        </p:nvSpPr>
        <p:spPr>
          <a:xfrm>
            <a:off x="4709160" y="2532888"/>
            <a:ext cx="3886200" cy="384048"/>
          </a:xfrm>
          <a:prstGeom prst="rect">
            <a:avLst/>
          </a:prstGeom>
          <a:noFill/>
          <a:ln/>
        </p:spPr>
        <p:txBody>
          <a:bodyPr wrap="square" lIns="0" tIns="0" rIns="0" bIns="0" rtlCol="0" anchor="ctr"/>
          <a:lstStyle/>
          <a:p>
            <a:pPr indent="0" marL="0">
              <a:buNone/>
            </a:pPr>
            <a:r>
              <a:rPr lang="en-US" sz="1600" b="1" dirty="0">
                <a:solidFill>
                  <a:schemeClr val="tx2"/>
                </a:solidFill>
              </a:rPr>
              <a:t>切開の位置</a:t>
            </a:r>
            <a:endParaRPr lang="en-US" sz="1600" dirty="0"/>
          </a:p>
        </p:txBody>
      </p:sp>
      <p:sp>
        <p:nvSpPr>
          <p:cNvPr id="35" name="Text 33"/>
          <p:cNvSpPr txBox="1"/>
          <p:nvPr/>
        </p:nvSpPr>
        <p:spPr>
          <a:xfrm>
            <a:off x="4709160" y="2971800"/>
            <a:ext cx="731520" cy="237744"/>
          </a:xfrm>
          <a:prstGeom prst="rect">
            <a:avLst/>
          </a:prstGeom>
          <a:noFill/>
          <a:ln/>
        </p:spPr>
        <p:txBody>
          <a:bodyPr wrap="square" lIns="0" tIns="0" rIns="0" bIns="0" rtlCol="0" anchor="ctr"/>
          <a:lstStyle/>
          <a:p>
            <a:pPr algn="ctr" indent="0" marL="0">
              <a:buNone/>
            </a:pPr>
            <a:r>
              <a:rPr lang="en-US" sz="1300" b="1" dirty="0">
                <a:solidFill>
                  <a:schemeClr val="tx1"/>
                </a:solidFill>
              </a:rPr>
              <a:t>皮膚</a:t>
            </a:r>
            <a:endParaRPr lang="en-US" sz="1300" dirty="0"/>
          </a:p>
        </p:txBody>
      </p:sp>
      <p:sp>
        <p:nvSpPr>
          <p:cNvPr id="36" name="skin-torso"/>
          <p:cNvSpPr/>
          <p:nvPr/>
        </p:nvSpPr>
        <p:spPr>
          <a:xfrm>
            <a:off x="4709160" y="3291840"/>
            <a:ext cx="731520" cy="1143000"/>
          </a:xfrm>
          <a:prstGeom prst="roundRect">
            <a:avLst>
              <a:gd name="adj" fmla="val 37500"/>
            </a:avLst>
          </a:prstGeom>
          <a:solidFill>
            <a:schemeClr val="bg1"/>
          </a:solidFill>
          <a:ln w="12700">
            <a:solidFill>
              <a:srgbClr val="A6A6A6"/>
            </a:solidFill>
            <a:prstDash val="solid"/>
          </a:ln>
        </p:spPr>
      </p:sp>
      <p:sp>
        <p:nvSpPr>
          <p:cNvPr id="37" name="skin-navel"/>
          <p:cNvSpPr/>
          <p:nvPr/>
        </p:nvSpPr>
        <p:spPr>
          <a:xfrm>
            <a:off x="5042916" y="3584448"/>
            <a:ext cx="64008" cy="64008"/>
          </a:xfrm>
          <a:prstGeom prst="ellipse">
            <a:avLst/>
          </a:prstGeom>
          <a:solidFill>
            <a:srgbClr val="A6A6A6"/>
          </a:solidFill>
          <a:ln/>
        </p:spPr>
      </p:sp>
      <p:sp>
        <p:nvSpPr>
          <p:cNvPr id="38" name="skin-vertical"/>
          <p:cNvSpPr/>
          <p:nvPr/>
        </p:nvSpPr>
        <p:spPr>
          <a:xfrm>
            <a:off x="5074920" y="3730752"/>
            <a:ext cx="0" cy="530352"/>
          </a:xfrm>
          <a:prstGeom prst="line">
            <a:avLst/>
          </a:prstGeom>
          <a:noFill/>
          <a:ln w="31750">
            <a:solidFill>
              <a:srgbClr val="1F7A7A"/>
            </a:solidFill>
            <a:prstDash val="dash"/>
          </a:ln>
        </p:spPr>
      </p:sp>
      <p:sp>
        <p:nvSpPr>
          <p:cNvPr id="39" name="skin-transverse"/>
          <p:cNvSpPr/>
          <p:nvPr/>
        </p:nvSpPr>
        <p:spPr>
          <a:xfrm>
            <a:off x="4873752" y="4206240"/>
            <a:ext cx="402336" cy="0"/>
          </a:xfrm>
          <a:prstGeom prst="line">
            <a:avLst/>
          </a:prstGeom>
          <a:noFill/>
          <a:ln w="31750">
            <a:solidFill>
              <a:srgbClr val="7A2048"/>
            </a:solidFill>
            <a:prstDash val="solid"/>
          </a:ln>
        </p:spPr>
      </p:sp>
      <p:sp>
        <p:nvSpPr>
          <p:cNvPr id="40" name="Text 38"/>
          <p:cNvSpPr txBox="1"/>
          <p:nvPr/>
        </p:nvSpPr>
        <p:spPr>
          <a:xfrm>
            <a:off x="5577840" y="2971800"/>
            <a:ext cx="731520" cy="237744"/>
          </a:xfrm>
          <a:prstGeom prst="rect">
            <a:avLst/>
          </a:prstGeom>
          <a:noFill/>
          <a:ln/>
        </p:spPr>
        <p:txBody>
          <a:bodyPr wrap="square" lIns="0" tIns="0" rIns="0" bIns="0" rtlCol="0" anchor="ctr"/>
          <a:lstStyle/>
          <a:p>
            <a:pPr algn="ctr" indent="0" marL="0">
              <a:buNone/>
            </a:pPr>
            <a:r>
              <a:rPr lang="en-US" sz="1300" b="1" dirty="0">
                <a:solidFill>
                  <a:schemeClr val="tx1"/>
                </a:solidFill>
              </a:rPr>
              <a:t>子宮</a:t>
            </a:r>
            <a:endParaRPr lang="en-US" sz="1300" dirty="0"/>
          </a:p>
        </p:txBody>
      </p:sp>
      <p:sp>
        <p:nvSpPr>
          <p:cNvPr id="41" name="ut-inc-cervix"/>
          <p:cNvSpPr/>
          <p:nvPr/>
        </p:nvSpPr>
        <p:spPr>
          <a:xfrm>
            <a:off x="5804611" y="4059022"/>
            <a:ext cx="277978" cy="288036"/>
          </a:xfrm>
          <a:prstGeom prst="rect">
            <a:avLst/>
          </a:prstGeom>
          <a:solidFill>
            <a:schemeClr val="bg1"/>
          </a:solidFill>
          <a:ln w="12700">
            <a:solidFill>
              <a:srgbClr val="A6A6A6"/>
            </a:solidFill>
            <a:prstDash val="solid"/>
          </a:ln>
        </p:spPr>
      </p:sp>
      <p:sp>
        <p:nvSpPr>
          <p:cNvPr id="42" name="ut-inc-body"/>
          <p:cNvSpPr/>
          <p:nvPr/>
        </p:nvSpPr>
        <p:spPr>
          <a:xfrm>
            <a:off x="5577840" y="3310128"/>
            <a:ext cx="731520" cy="844906"/>
          </a:xfrm>
          <a:prstGeom prst="ellipse">
            <a:avLst/>
          </a:prstGeom>
          <a:solidFill>
            <a:schemeClr val="bg1"/>
          </a:solidFill>
          <a:ln w="12700">
            <a:solidFill>
              <a:srgbClr val="A6A6A6"/>
            </a:solidFill>
            <a:prstDash val="solid"/>
          </a:ln>
        </p:spPr>
      </p:sp>
      <p:sp>
        <p:nvSpPr>
          <p:cNvPr id="43" name="ut-classical"/>
          <p:cNvSpPr/>
          <p:nvPr/>
        </p:nvSpPr>
        <p:spPr>
          <a:xfrm>
            <a:off x="5943600" y="3429000"/>
            <a:ext cx="0" cy="411480"/>
          </a:xfrm>
          <a:prstGeom prst="line">
            <a:avLst/>
          </a:prstGeom>
          <a:noFill/>
          <a:ln w="31750">
            <a:solidFill>
              <a:srgbClr val="1F7A7A"/>
            </a:solidFill>
            <a:prstDash val="dash"/>
          </a:ln>
        </p:spPr>
      </p:sp>
      <p:sp>
        <p:nvSpPr>
          <p:cNvPr id="44" name="ut-lowtransverse"/>
          <p:cNvSpPr/>
          <p:nvPr/>
        </p:nvSpPr>
        <p:spPr>
          <a:xfrm>
            <a:off x="5733288" y="4005072"/>
            <a:ext cx="420624" cy="0"/>
          </a:xfrm>
          <a:prstGeom prst="line">
            <a:avLst/>
          </a:prstGeom>
          <a:noFill/>
          <a:ln w="31750">
            <a:solidFill>
              <a:srgbClr val="7A2048"/>
            </a:solidFill>
            <a:prstDash val="solid"/>
          </a:ln>
        </p:spPr>
      </p:sp>
      <p:sp>
        <p:nvSpPr>
          <p:cNvPr id="45" name="leg-trans-key"/>
          <p:cNvSpPr/>
          <p:nvPr/>
        </p:nvSpPr>
        <p:spPr>
          <a:xfrm>
            <a:off x="6446520" y="3090672"/>
            <a:ext cx="274320" cy="0"/>
          </a:xfrm>
          <a:prstGeom prst="line">
            <a:avLst/>
          </a:prstGeom>
          <a:noFill/>
          <a:ln w="31750">
            <a:solidFill>
              <a:srgbClr val="7A2048"/>
            </a:solidFill>
            <a:prstDash val="solid"/>
          </a:ln>
        </p:spPr>
      </p:sp>
      <p:sp>
        <p:nvSpPr>
          <p:cNvPr id="46" name="Text 44"/>
          <p:cNvSpPr txBox="1"/>
          <p:nvPr/>
        </p:nvSpPr>
        <p:spPr>
          <a:xfrm>
            <a:off x="6793992" y="2971800"/>
            <a:ext cx="1892808" cy="237744"/>
          </a:xfrm>
          <a:prstGeom prst="rect">
            <a:avLst/>
          </a:prstGeom>
          <a:noFill/>
          <a:ln/>
        </p:spPr>
        <p:txBody>
          <a:bodyPr wrap="square" lIns="0" tIns="0" rIns="0" bIns="0" rtlCol="0" anchor="ctr"/>
          <a:lstStyle/>
          <a:p>
            <a:pPr indent="0" marL="0">
              <a:buNone/>
            </a:pPr>
            <a:r>
              <a:rPr lang="en-US" sz="1300" b="1" dirty="0">
                <a:solidFill>
                  <a:srgbClr val="7A2048"/>
                </a:solidFill>
              </a:rPr>
              <a:t>横切開</a:t>
            </a:r>
            <a:endParaRPr lang="en-US" sz="1300" dirty="0"/>
          </a:p>
        </p:txBody>
      </p:sp>
      <p:sp>
        <p:nvSpPr>
          <p:cNvPr id="47" name="Text 45"/>
          <p:cNvSpPr txBox="1"/>
          <p:nvPr/>
        </p:nvSpPr>
        <p:spPr>
          <a:xfrm>
            <a:off x="6793992" y="3209544"/>
            <a:ext cx="1892808" cy="237744"/>
          </a:xfrm>
          <a:prstGeom prst="rect">
            <a:avLst/>
          </a:prstGeom>
          <a:noFill/>
          <a:ln/>
        </p:spPr>
        <p:txBody>
          <a:bodyPr wrap="square" lIns="0" tIns="0" rIns="0" bIns="0" rtlCol="0" anchor="ctr"/>
          <a:lstStyle/>
          <a:p>
            <a:pPr indent="0" marL="0">
              <a:buNone/>
            </a:pPr>
            <a:r>
              <a:rPr lang="en-US" sz="1300" dirty="0">
                <a:solidFill>
                  <a:schemeClr val="tx1"/>
                </a:solidFill>
              </a:rPr>
              <a:t>皮膚：目立ちにくい</a:t>
            </a:r>
            <a:endParaRPr lang="en-US" sz="1300" dirty="0"/>
          </a:p>
        </p:txBody>
      </p:sp>
      <p:sp>
        <p:nvSpPr>
          <p:cNvPr id="48" name="Text 46"/>
          <p:cNvSpPr txBox="1"/>
          <p:nvPr/>
        </p:nvSpPr>
        <p:spPr>
          <a:xfrm>
            <a:off x="6793992" y="3447288"/>
            <a:ext cx="1892808" cy="237744"/>
          </a:xfrm>
          <a:prstGeom prst="rect">
            <a:avLst/>
          </a:prstGeom>
          <a:noFill/>
          <a:ln/>
        </p:spPr>
        <p:txBody>
          <a:bodyPr wrap="square" lIns="0" tIns="0" rIns="0" bIns="0" rtlCol="0" anchor="ctr"/>
          <a:lstStyle/>
          <a:p>
            <a:pPr indent="0" marL="0">
              <a:buNone/>
            </a:pPr>
            <a:r>
              <a:rPr lang="en-US" sz="1300" dirty="0">
                <a:solidFill>
                  <a:schemeClr val="tx1"/>
                </a:solidFill>
              </a:rPr>
              <a:t>子宮：子宮下部（標準）</a:t>
            </a:r>
            <a:endParaRPr lang="en-US" sz="1300" dirty="0"/>
          </a:p>
        </p:txBody>
      </p:sp>
      <p:sp>
        <p:nvSpPr>
          <p:cNvPr id="49" name="leg-vert-key"/>
          <p:cNvSpPr/>
          <p:nvPr/>
        </p:nvSpPr>
        <p:spPr>
          <a:xfrm>
            <a:off x="6446520" y="3886200"/>
            <a:ext cx="274320" cy="0"/>
          </a:xfrm>
          <a:prstGeom prst="line">
            <a:avLst/>
          </a:prstGeom>
          <a:noFill/>
          <a:ln w="31750">
            <a:solidFill>
              <a:srgbClr val="1F7A7A"/>
            </a:solidFill>
            <a:prstDash val="sysDash"/>
          </a:ln>
        </p:spPr>
      </p:sp>
      <p:sp>
        <p:nvSpPr>
          <p:cNvPr id="50" name="Text 48"/>
          <p:cNvSpPr txBox="1"/>
          <p:nvPr/>
        </p:nvSpPr>
        <p:spPr>
          <a:xfrm>
            <a:off x="6793992" y="3767328"/>
            <a:ext cx="1892808" cy="237744"/>
          </a:xfrm>
          <a:prstGeom prst="rect">
            <a:avLst/>
          </a:prstGeom>
          <a:noFill/>
          <a:ln/>
        </p:spPr>
        <p:txBody>
          <a:bodyPr wrap="square" lIns="0" tIns="0" rIns="0" bIns="0" rtlCol="0" anchor="ctr"/>
          <a:lstStyle/>
          <a:p>
            <a:pPr indent="0" marL="0">
              <a:buNone/>
            </a:pPr>
            <a:r>
              <a:rPr lang="en-US" sz="1300" b="1" dirty="0">
                <a:solidFill>
                  <a:srgbClr val="1F7A7A"/>
                </a:solidFill>
              </a:rPr>
              <a:t>縦切開</a:t>
            </a:r>
            <a:endParaRPr lang="en-US" sz="1300" dirty="0"/>
          </a:p>
        </p:txBody>
      </p:sp>
      <p:sp>
        <p:nvSpPr>
          <p:cNvPr id="51" name="Text 49"/>
          <p:cNvSpPr txBox="1"/>
          <p:nvPr/>
        </p:nvSpPr>
        <p:spPr>
          <a:xfrm>
            <a:off x="6793992" y="4005072"/>
            <a:ext cx="1892808" cy="237744"/>
          </a:xfrm>
          <a:prstGeom prst="rect">
            <a:avLst/>
          </a:prstGeom>
          <a:noFill/>
          <a:ln/>
        </p:spPr>
        <p:txBody>
          <a:bodyPr wrap="square" lIns="0" tIns="0" rIns="0" bIns="0" rtlCol="0" anchor="ctr"/>
          <a:lstStyle/>
          <a:p>
            <a:pPr indent="0" marL="0">
              <a:buNone/>
            </a:pPr>
            <a:r>
              <a:rPr lang="en-US" sz="1300" dirty="0">
                <a:solidFill>
                  <a:schemeClr val="tx1"/>
                </a:solidFill>
              </a:rPr>
              <a:t>皮膚：速く広い視野</a:t>
            </a:r>
            <a:endParaRPr lang="en-US" sz="1300" dirty="0"/>
          </a:p>
        </p:txBody>
      </p:sp>
      <p:sp>
        <p:nvSpPr>
          <p:cNvPr id="52" name="Text 50"/>
          <p:cNvSpPr txBox="1"/>
          <p:nvPr/>
        </p:nvSpPr>
        <p:spPr>
          <a:xfrm>
            <a:off x="6793992" y="4242816"/>
            <a:ext cx="1892808" cy="237744"/>
          </a:xfrm>
          <a:prstGeom prst="rect">
            <a:avLst/>
          </a:prstGeom>
          <a:noFill/>
          <a:ln/>
        </p:spPr>
        <p:txBody>
          <a:bodyPr wrap="square" lIns="0" tIns="0" rIns="0" bIns="0" rtlCol="0" anchor="ctr"/>
          <a:lstStyle/>
          <a:p>
            <a:pPr indent="0" marL="0">
              <a:buNone/>
            </a:pPr>
            <a:r>
              <a:rPr lang="en-US" sz="1300" dirty="0">
                <a:solidFill>
                  <a:schemeClr val="tx1"/>
                </a:solidFill>
              </a:rPr>
              <a:t>子宮：体部（古典的）</a:t>
            </a:r>
            <a:endParaRPr lang="en-US" sz="1300" dirty="0"/>
          </a:p>
        </p:txBody>
      </p:sp>
      <p:sp>
        <p:nvSpPr>
          <p:cNvPr id="53" name="source"/>
          <p:cNvSpPr txBox="1"/>
          <p:nvPr/>
        </p:nvSpPr>
        <p:spPr>
          <a:xfrm>
            <a:off x="457200" y="4727448"/>
            <a:ext cx="7680960" cy="274320"/>
          </a:xfrm>
          <a:prstGeom prst="rect">
            <a:avLst/>
          </a:prstGeom>
          <a:noFill/>
          <a:ln/>
        </p:spPr>
        <p:txBody>
          <a:bodyPr wrap="square" lIns="0" tIns="0" rIns="0" bIns="0" rtlCol="0" anchor="ctr"/>
          <a:lstStyle/>
          <a:p>
            <a:pPr indent="0" marL="0">
              <a:buNone/>
            </a:pPr>
            <a:r>
              <a:rPr lang="en-US" sz="1300" dirty="0">
                <a:solidFill>
                  <a:schemeClr val="accent5"/>
                </a:solidFill>
              </a:rPr>
              <a:t>参考：病気がみえる vol.10 産科／産婦人科診療ガイドライン 産科編2023</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帝王切開の合併症とその後への影響</a:t>
            </a:r>
            <a:endParaRPr lang="en-US" sz="2600" dirty="0"/>
          </a:p>
        </p:txBody>
      </p:sp>
      <p:sp>
        <p:nvSpPr>
          <p:cNvPr id="3" name="Text 1"/>
          <p:cNvSpPr txBox="1"/>
          <p:nvPr/>
        </p:nvSpPr>
        <p:spPr>
          <a:xfrm>
            <a:off x="457200" y="960120"/>
            <a:ext cx="4572000" cy="320040"/>
          </a:xfrm>
          <a:prstGeom prst="rect">
            <a:avLst/>
          </a:prstGeom>
          <a:noFill/>
          <a:ln/>
        </p:spPr>
        <p:txBody>
          <a:bodyPr wrap="square" lIns="0" tIns="0" rIns="0" bIns="0" rtlCol="0" anchor="ctr"/>
          <a:lstStyle/>
          <a:p>
            <a:pPr indent="0" marL="0">
              <a:buNone/>
            </a:pPr>
            <a:r>
              <a:rPr lang="en-US" sz="1600" b="1" dirty="0">
                <a:solidFill>
                  <a:schemeClr val="tx2"/>
                </a:solidFill>
              </a:rPr>
              <a:t>母体の合併症</a:t>
            </a:r>
            <a:endParaRPr lang="en-US" sz="1600" dirty="0"/>
          </a:p>
        </p:txBody>
      </p:sp>
      <p:sp>
        <p:nvSpPr>
          <p:cNvPr id="4" name="Text 2"/>
          <p:cNvSpPr txBox="1"/>
          <p:nvPr/>
        </p:nvSpPr>
        <p:spPr>
          <a:xfrm>
            <a:off x="457200" y="1380744"/>
            <a:ext cx="4480560" cy="274320"/>
          </a:xfrm>
          <a:prstGeom prst="rect">
            <a:avLst/>
          </a:prstGeom>
          <a:noFill/>
          <a:ln/>
        </p:spPr>
        <p:txBody>
          <a:bodyPr wrap="square" lIns="0" tIns="0" rIns="0" bIns="0" rtlCol="0" anchor="ctr"/>
          <a:lstStyle/>
          <a:p>
            <a:pPr indent="0" marL="0">
              <a:buNone/>
            </a:pPr>
            <a:r>
              <a:rPr lang="en-US" sz="1400" b="1" dirty="0">
                <a:solidFill>
                  <a:schemeClr val="tx1"/>
                </a:solidFill>
              </a:rPr>
              <a:t>出血</a:t>
            </a:r>
            <a:endParaRPr lang="en-US" sz="1400" dirty="0"/>
          </a:p>
        </p:txBody>
      </p:sp>
      <p:sp>
        <p:nvSpPr>
          <p:cNvPr id="5" name="Text 3"/>
          <p:cNvSpPr txBox="1"/>
          <p:nvPr/>
        </p:nvSpPr>
        <p:spPr>
          <a:xfrm>
            <a:off x="457200" y="1664208"/>
            <a:ext cx="4526280" cy="457200"/>
          </a:xfrm>
          <a:prstGeom prst="rect">
            <a:avLst/>
          </a:prstGeom>
          <a:noFill/>
          <a:ln/>
        </p:spPr>
        <p:txBody>
          <a:bodyPr wrap="square" lIns="0" tIns="0" rIns="0" bIns="0" rtlCol="0" anchor="t"/>
          <a:lstStyle/>
          <a:p>
            <a:pPr indent="0" marL="0">
              <a:buNone/>
            </a:pPr>
            <a:r>
              <a:rPr lang="en-US" sz="1200" dirty="0">
                <a:solidFill>
                  <a:schemeClr val="accent5"/>
                </a:solidFill>
              </a:rPr>
              <a:t>経腟分娩より出血量が多く、輸血が必要になることも</a:t>
            </a:r>
            <a:endParaRPr lang="en-US" sz="1200" dirty="0"/>
          </a:p>
        </p:txBody>
      </p:sp>
      <p:sp>
        <p:nvSpPr>
          <p:cNvPr id="6" name="Text 4"/>
          <p:cNvSpPr txBox="1"/>
          <p:nvPr/>
        </p:nvSpPr>
        <p:spPr>
          <a:xfrm>
            <a:off x="457200" y="2203704"/>
            <a:ext cx="4480560" cy="274320"/>
          </a:xfrm>
          <a:prstGeom prst="rect">
            <a:avLst/>
          </a:prstGeom>
          <a:noFill/>
          <a:ln/>
        </p:spPr>
        <p:txBody>
          <a:bodyPr wrap="square" lIns="0" tIns="0" rIns="0" bIns="0" rtlCol="0" anchor="ctr"/>
          <a:lstStyle/>
          <a:p>
            <a:pPr indent="0" marL="0">
              <a:buNone/>
            </a:pPr>
            <a:r>
              <a:rPr lang="en-US" sz="1400" b="1" dirty="0">
                <a:solidFill>
                  <a:schemeClr val="tx1"/>
                </a:solidFill>
              </a:rPr>
              <a:t>感染</a:t>
            </a:r>
            <a:endParaRPr lang="en-US" sz="1400" dirty="0"/>
          </a:p>
        </p:txBody>
      </p:sp>
      <p:sp>
        <p:nvSpPr>
          <p:cNvPr id="7" name="Text 5"/>
          <p:cNvSpPr txBox="1"/>
          <p:nvPr/>
        </p:nvSpPr>
        <p:spPr>
          <a:xfrm>
            <a:off x="457200" y="2487168"/>
            <a:ext cx="4526280" cy="457200"/>
          </a:xfrm>
          <a:prstGeom prst="rect">
            <a:avLst/>
          </a:prstGeom>
          <a:noFill/>
          <a:ln/>
        </p:spPr>
        <p:txBody>
          <a:bodyPr wrap="square" lIns="0" tIns="0" rIns="0" bIns="0" rtlCol="0" anchor="t"/>
          <a:lstStyle/>
          <a:p>
            <a:pPr indent="0" marL="0">
              <a:buNone/>
            </a:pPr>
            <a:r>
              <a:rPr lang="en-US" sz="1200" dirty="0">
                <a:solidFill>
                  <a:schemeClr val="accent5"/>
                </a:solidFill>
              </a:rPr>
              <a:t>創部感染・子宮内膜炎 → 予防的に抗菌薬を投与</a:t>
            </a:r>
            <a:endParaRPr lang="en-US" sz="1200" dirty="0"/>
          </a:p>
        </p:txBody>
      </p:sp>
      <p:sp>
        <p:nvSpPr>
          <p:cNvPr id="8" name="Text 6"/>
          <p:cNvSpPr txBox="1"/>
          <p:nvPr/>
        </p:nvSpPr>
        <p:spPr>
          <a:xfrm>
            <a:off x="457200" y="3026664"/>
            <a:ext cx="4480560" cy="274320"/>
          </a:xfrm>
          <a:prstGeom prst="rect">
            <a:avLst/>
          </a:prstGeom>
          <a:noFill/>
          <a:ln/>
        </p:spPr>
        <p:txBody>
          <a:bodyPr wrap="square" lIns="0" tIns="0" rIns="0" bIns="0" rtlCol="0" anchor="ctr"/>
          <a:lstStyle/>
          <a:p>
            <a:pPr indent="0" marL="0">
              <a:buNone/>
            </a:pPr>
            <a:r>
              <a:rPr lang="en-US" sz="1400" b="1" dirty="0">
                <a:solidFill>
                  <a:schemeClr val="tx1"/>
                </a:solidFill>
              </a:rPr>
              <a:t>静脈血栓塞栓症</a:t>
            </a:r>
            <a:endParaRPr lang="en-US" sz="1400" dirty="0"/>
          </a:p>
        </p:txBody>
      </p:sp>
      <p:sp>
        <p:nvSpPr>
          <p:cNvPr id="9" name="Text 7"/>
          <p:cNvSpPr txBox="1"/>
          <p:nvPr/>
        </p:nvSpPr>
        <p:spPr>
          <a:xfrm>
            <a:off x="457200" y="3310128"/>
            <a:ext cx="4526280" cy="457200"/>
          </a:xfrm>
          <a:prstGeom prst="rect">
            <a:avLst/>
          </a:prstGeom>
          <a:noFill/>
          <a:ln/>
        </p:spPr>
        <p:txBody>
          <a:bodyPr wrap="square" lIns="0" tIns="0" rIns="0" bIns="0" rtlCol="0" anchor="t"/>
          <a:lstStyle/>
          <a:p>
            <a:pPr indent="0" marL="0">
              <a:buNone/>
            </a:pPr>
            <a:r>
              <a:rPr lang="en-US" sz="1200" dirty="0">
                <a:solidFill>
                  <a:schemeClr val="accent5"/>
                </a:solidFill>
              </a:rPr>
              <a:t>深部静脈血栓 → 肺塞栓。早期離床・弾性ストッキングで予防</a:t>
            </a:r>
            <a:endParaRPr lang="en-US" sz="1200" dirty="0"/>
          </a:p>
        </p:txBody>
      </p:sp>
      <p:sp>
        <p:nvSpPr>
          <p:cNvPr id="10" name="Text 8"/>
          <p:cNvSpPr txBox="1"/>
          <p:nvPr/>
        </p:nvSpPr>
        <p:spPr>
          <a:xfrm>
            <a:off x="457200" y="3849624"/>
            <a:ext cx="4480560" cy="274320"/>
          </a:xfrm>
          <a:prstGeom prst="rect">
            <a:avLst/>
          </a:prstGeom>
          <a:noFill/>
          <a:ln/>
        </p:spPr>
        <p:txBody>
          <a:bodyPr wrap="square" lIns="0" tIns="0" rIns="0" bIns="0" rtlCol="0" anchor="ctr"/>
          <a:lstStyle/>
          <a:p>
            <a:pPr indent="0" marL="0">
              <a:buNone/>
            </a:pPr>
            <a:r>
              <a:rPr lang="en-US" sz="1400" b="1" dirty="0">
                <a:solidFill>
                  <a:schemeClr val="tx1"/>
                </a:solidFill>
              </a:rPr>
              <a:t>癒着・イレウス</a:t>
            </a:r>
            <a:endParaRPr lang="en-US" sz="1400" dirty="0"/>
          </a:p>
        </p:txBody>
      </p:sp>
      <p:sp>
        <p:nvSpPr>
          <p:cNvPr id="11" name="Text 9"/>
          <p:cNvSpPr txBox="1"/>
          <p:nvPr/>
        </p:nvSpPr>
        <p:spPr>
          <a:xfrm>
            <a:off x="457200" y="4133088"/>
            <a:ext cx="4526280" cy="457200"/>
          </a:xfrm>
          <a:prstGeom prst="rect">
            <a:avLst/>
          </a:prstGeom>
          <a:noFill/>
          <a:ln/>
        </p:spPr>
        <p:txBody>
          <a:bodyPr wrap="square" lIns="0" tIns="0" rIns="0" bIns="0" rtlCol="0" anchor="t"/>
          <a:lstStyle/>
          <a:p>
            <a:pPr indent="0" marL="0">
              <a:buNone/>
            </a:pPr>
            <a:r>
              <a:rPr lang="en-US" sz="1200" dirty="0">
                <a:solidFill>
                  <a:schemeClr val="accent5"/>
                </a:solidFill>
              </a:rPr>
              <a:t>腸管の癒着、術後の麻痺性イレウス、膀胱・腸管の損傷</a:t>
            </a:r>
            <a:endParaRPr lang="en-US" sz="1200" dirty="0"/>
          </a:p>
        </p:txBody>
      </p:sp>
      <p:sp>
        <p:nvSpPr>
          <p:cNvPr id="12" name="next-decor"/>
          <p:cNvSpPr/>
          <p:nvPr/>
        </p:nvSpPr>
        <p:spPr>
          <a:xfrm>
            <a:off x="7818120" y="1051560"/>
            <a:ext cx="822960" cy="822960"/>
          </a:xfrm>
          <a:prstGeom prst="ellipse">
            <a:avLst/>
          </a:prstGeom>
          <a:solidFill>
            <a:schemeClr val="tx2">
              <a:alpha val="5000"/>
            </a:schemeClr>
          </a:solidFill>
          <a:ln/>
        </p:spPr>
      </p:sp>
      <p:sp>
        <p:nvSpPr>
          <p:cNvPr id="13" name="next-rule"/>
          <p:cNvSpPr/>
          <p:nvPr/>
        </p:nvSpPr>
        <p:spPr>
          <a:xfrm>
            <a:off x="5303520" y="3703320"/>
            <a:ext cx="3383280" cy="0"/>
          </a:xfrm>
          <a:prstGeom prst="line">
            <a:avLst/>
          </a:prstGeom>
          <a:noFill/>
          <a:ln w="12700">
            <a:solidFill>
              <a:srgbClr val="BFBFBF"/>
            </a:solidFill>
            <a:prstDash val="solid"/>
          </a:ln>
        </p:spPr>
      </p:sp>
      <p:sp>
        <p:nvSpPr>
          <p:cNvPr id="14" name="Text 12"/>
          <p:cNvSpPr txBox="1"/>
          <p:nvPr/>
        </p:nvSpPr>
        <p:spPr>
          <a:xfrm>
            <a:off x="5303520" y="1005840"/>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次回の妊娠への影響</a:t>
            </a:r>
            <a:endParaRPr lang="en-US" sz="1600" dirty="0"/>
          </a:p>
        </p:txBody>
      </p:sp>
      <p:sp>
        <p:nvSpPr>
          <p:cNvPr id="15" name="stat"/>
          <p:cNvSpPr txBox="1"/>
          <p:nvPr/>
        </p:nvSpPr>
        <p:spPr>
          <a:xfrm>
            <a:off x="5303520" y="1371600"/>
            <a:ext cx="3383280" cy="548640"/>
          </a:xfrm>
          <a:prstGeom prst="rect">
            <a:avLst/>
          </a:prstGeom>
          <a:noFill/>
          <a:ln/>
        </p:spPr>
        <p:txBody>
          <a:bodyPr wrap="square" lIns="0" tIns="0" rIns="0" bIns="0" rtlCol="0" anchor="ctr"/>
          <a:lstStyle/>
          <a:p>
            <a:pPr indent="0" marL="0">
              <a:buNone/>
            </a:pPr>
            <a:r>
              <a:rPr lang="en-US" sz="3200" b="1" dirty="0">
                <a:solidFill>
                  <a:schemeClr val="accent3"/>
                </a:solidFill>
              </a:rPr>
              <a:t>約0.5〜1%</a:t>
            </a:r>
            <a:endParaRPr lang="en-US" sz="3200" dirty="0"/>
          </a:p>
        </p:txBody>
      </p:sp>
      <p:sp>
        <p:nvSpPr>
          <p:cNvPr id="16" name="Text 14"/>
          <p:cNvSpPr txBox="1"/>
          <p:nvPr/>
        </p:nvSpPr>
        <p:spPr>
          <a:xfrm>
            <a:off x="5303520" y="1920240"/>
            <a:ext cx="3291840" cy="457200"/>
          </a:xfrm>
          <a:prstGeom prst="rect">
            <a:avLst/>
          </a:prstGeom>
          <a:noFill/>
          <a:ln/>
        </p:spPr>
        <p:txBody>
          <a:bodyPr wrap="square" lIns="0" tIns="0" rIns="0" bIns="0" rtlCol="0" anchor="t"/>
          <a:lstStyle/>
          <a:p>
            <a:pPr indent="0" marL="0">
              <a:buNone/>
            </a:pPr>
            <a:r>
              <a:rPr lang="en-US" sz="1300" dirty="0">
                <a:solidFill>
                  <a:schemeClr val="tx1"/>
                </a:solidFill>
              </a:rPr>
              <a:t>帝王切開後に経腟分娩を試みた時（TOLAC）の子宮破裂</a:t>
            </a:r>
            <a:endParaRPr lang="en-US" sz="1300" dirty="0"/>
          </a:p>
        </p:txBody>
      </p:sp>
      <p:sp>
        <p:nvSpPr>
          <p:cNvPr id="17" name="ut-scar-cervix"/>
          <p:cNvSpPr/>
          <p:nvPr/>
        </p:nvSpPr>
        <p:spPr>
          <a:xfrm>
            <a:off x="5530291" y="3199486"/>
            <a:ext cx="277978" cy="288036"/>
          </a:xfrm>
          <a:prstGeom prst="rect">
            <a:avLst/>
          </a:prstGeom>
          <a:solidFill>
            <a:schemeClr val="bg1"/>
          </a:solidFill>
          <a:ln w="12700">
            <a:solidFill>
              <a:srgbClr val="A6A6A6"/>
            </a:solidFill>
            <a:prstDash val="solid"/>
          </a:ln>
        </p:spPr>
      </p:sp>
      <p:sp>
        <p:nvSpPr>
          <p:cNvPr id="18" name="ut-scar-body"/>
          <p:cNvSpPr/>
          <p:nvPr/>
        </p:nvSpPr>
        <p:spPr>
          <a:xfrm>
            <a:off x="5303520" y="2450592"/>
            <a:ext cx="731520" cy="844906"/>
          </a:xfrm>
          <a:prstGeom prst="ellipse">
            <a:avLst/>
          </a:prstGeom>
          <a:solidFill>
            <a:schemeClr val="bg1"/>
          </a:solidFill>
          <a:ln w="12700">
            <a:solidFill>
              <a:srgbClr val="A6A6A6"/>
            </a:solidFill>
            <a:prstDash val="solid"/>
          </a:ln>
        </p:spPr>
      </p:sp>
      <p:sp>
        <p:nvSpPr>
          <p:cNvPr id="19" name="ut-scar-placenta"/>
          <p:cNvSpPr/>
          <p:nvPr/>
        </p:nvSpPr>
        <p:spPr>
          <a:xfrm>
            <a:off x="5468112" y="3072384"/>
            <a:ext cx="402336" cy="182880"/>
          </a:xfrm>
          <a:prstGeom prst="ellipse">
            <a:avLst/>
          </a:prstGeom>
          <a:solidFill>
            <a:schemeClr val="accent2"/>
          </a:solidFill>
          <a:ln/>
        </p:spPr>
      </p:sp>
      <p:sp>
        <p:nvSpPr>
          <p:cNvPr id="20" name="ut-scar-line"/>
          <p:cNvSpPr/>
          <p:nvPr/>
        </p:nvSpPr>
        <p:spPr>
          <a:xfrm>
            <a:off x="5449824" y="3200400"/>
            <a:ext cx="438912" cy="0"/>
          </a:xfrm>
          <a:prstGeom prst="line">
            <a:avLst/>
          </a:prstGeom>
          <a:noFill/>
          <a:ln w="38100">
            <a:solidFill>
              <a:srgbClr val="7A2048"/>
            </a:solidFill>
            <a:prstDash val="solid"/>
          </a:ln>
        </p:spPr>
      </p:sp>
      <p:sp>
        <p:nvSpPr>
          <p:cNvPr id="21" name="scar-leg-key"/>
          <p:cNvSpPr/>
          <p:nvPr/>
        </p:nvSpPr>
        <p:spPr>
          <a:xfrm>
            <a:off x="6217920" y="2551176"/>
            <a:ext cx="274320" cy="0"/>
          </a:xfrm>
          <a:prstGeom prst="line">
            <a:avLst/>
          </a:prstGeom>
          <a:noFill/>
          <a:ln w="31750">
            <a:solidFill>
              <a:srgbClr val="7A2048"/>
            </a:solidFill>
            <a:prstDash val="solid"/>
          </a:ln>
        </p:spPr>
      </p:sp>
      <p:sp>
        <p:nvSpPr>
          <p:cNvPr id="22" name="Text 20"/>
          <p:cNvSpPr txBox="1"/>
          <p:nvPr/>
        </p:nvSpPr>
        <p:spPr>
          <a:xfrm>
            <a:off x="6565392" y="2432304"/>
            <a:ext cx="2121408" cy="237744"/>
          </a:xfrm>
          <a:prstGeom prst="rect">
            <a:avLst/>
          </a:prstGeom>
          <a:noFill/>
          <a:ln/>
        </p:spPr>
        <p:txBody>
          <a:bodyPr wrap="square" lIns="0" tIns="0" rIns="0" bIns="0" rtlCol="0" anchor="ctr"/>
          <a:lstStyle/>
          <a:p>
            <a:pPr indent="0" marL="0">
              <a:buNone/>
            </a:pPr>
            <a:r>
              <a:rPr lang="en-US" sz="1300" b="1" dirty="0">
                <a:solidFill>
                  <a:srgbClr val="7A2048"/>
                </a:solidFill>
              </a:rPr>
              <a:t>前回の切開瘢痕</a:t>
            </a:r>
            <a:endParaRPr lang="en-US" sz="1300" dirty="0"/>
          </a:p>
        </p:txBody>
      </p:sp>
      <p:sp>
        <p:nvSpPr>
          <p:cNvPr id="23" name="Text 21"/>
          <p:cNvSpPr txBox="1"/>
          <p:nvPr/>
        </p:nvSpPr>
        <p:spPr>
          <a:xfrm>
            <a:off x="6217920" y="2743200"/>
            <a:ext cx="2468880" cy="86868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瘢痕が裂ける → 子宮破裂</a:t>
            </a:r>
            <a:endParaRPr lang="en-US" sz="1300" dirty="0"/>
          </a:p>
          <a:p>
            <a:pPr marL="152400" indent="-152400">
              <a:spcAft>
                <a:spcPts val="200"/>
              </a:spcAft>
              <a:buSzPct val="100000"/>
              <a:buChar char="•"/>
            </a:pPr>
            <a:r>
              <a:rPr lang="en-US" sz="1300" dirty="0">
                <a:solidFill>
                  <a:schemeClr val="tx1"/>
                </a:solidFill>
              </a:rPr>
              <a:t>瘢痕に胎盤 → 前置・癒着胎盤</a:t>
            </a:r>
            <a:endParaRPr lang="en-US" sz="1300" dirty="0"/>
          </a:p>
          <a:p>
            <a:pPr marL="152400" indent="-152400">
              <a:spcAft>
                <a:spcPts val="200"/>
              </a:spcAft>
              <a:buSzPct val="100000"/>
              <a:buChar char="•"/>
            </a:pPr>
            <a:r>
              <a:rPr lang="en-US" sz="1300" dirty="0">
                <a:solidFill>
                  <a:schemeClr val="tx1"/>
                </a:solidFill>
              </a:rPr>
              <a:t>瘢痕に着床 → 瘢痕部妊娠</a:t>
            </a:r>
            <a:endParaRPr lang="en-US" sz="1300" dirty="0"/>
          </a:p>
        </p:txBody>
      </p:sp>
      <p:sp>
        <p:nvSpPr>
          <p:cNvPr id="24" name="neonate-decor"/>
          <p:cNvSpPr/>
          <p:nvPr/>
        </p:nvSpPr>
        <p:spPr>
          <a:xfrm>
            <a:off x="7818120" y="3886200"/>
            <a:ext cx="822960" cy="822960"/>
          </a:xfrm>
          <a:prstGeom prst="triangle">
            <a:avLst/>
          </a:prstGeom>
          <a:solidFill>
            <a:schemeClr val="tx2">
              <a:alpha val="5000"/>
            </a:schemeClr>
          </a:solidFill>
          <a:ln/>
        </p:spPr>
      </p:sp>
      <p:sp>
        <p:nvSpPr>
          <p:cNvPr id="25" name="neonate-rule"/>
          <p:cNvSpPr/>
          <p:nvPr/>
        </p:nvSpPr>
        <p:spPr>
          <a:xfrm>
            <a:off x="5303520" y="4526280"/>
            <a:ext cx="3383280" cy="0"/>
          </a:xfrm>
          <a:prstGeom prst="line">
            <a:avLst/>
          </a:prstGeom>
          <a:noFill/>
          <a:ln w="12700">
            <a:solidFill>
              <a:srgbClr val="BFBFBF"/>
            </a:solidFill>
            <a:prstDash val="solid"/>
          </a:ln>
        </p:spPr>
      </p:sp>
      <p:sp>
        <p:nvSpPr>
          <p:cNvPr id="26" name="Text 24"/>
          <p:cNvSpPr txBox="1"/>
          <p:nvPr/>
        </p:nvSpPr>
        <p:spPr>
          <a:xfrm>
            <a:off x="5303520" y="3840480"/>
            <a:ext cx="3383280" cy="320040"/>
          </a:xfrm>
          <a:prstGeom prst="rect">
            <a:avLst/>
          </a:prstGeom>
          <a:noFill/>
          <a:ln/>
        </p:spPr>
        <p:txBody>
          <a:bodyPr wrap="square" lIns="0" tIns="0" rIns="0" bIns="0" rtlCol="0" anchor="ctr"/>
          <a:lstStyle/>
          <a:p>
            <a:pPr indent="0" marL="0">
              <a:buNone/>
            </a:pPr>
            <a:r>
              <a:rPr lang="en-US" sz="1400" b="1" dirty="0">
                <a:solidFill>
                  <a:schemeClr val="accent2"/>
                </a:solidFill>
              </a:rPr>
              <a:t>新生児：一過性多呼吸</a:t>
            </a:r>
            <a:endParaRPr lang="en-US" sz="1400" dirty="0"/>
          </a:p>
        </p:txBody>
      </p:sp>
      <p:sp>
        <p:nvSpPr>
          <p:cNvPr id="27" name="Text 25"/>
          <p:cNvSpPr txBox="1"/>
          <p:nvPr/>
        </p:nvSpPr>
        <p:spPr>
          <a:xfrm>
            <a:off x="5303520" y="4178808"/>
            <a:ext cx="3291840" cy="274320"/>
          </a:xfrm>
          <a:prstGeom prst="rect">
            <a:avLst/>
          </a:prstGeom>
          <a:noFill/>
          <a:ln/>
        </p:spPr>
        <p:txBody>
          <a:bodyPr wrap="square" lIns="0" tIns="0" rIns="0" bIns="0" rtlCol="0" anchor="t"/>
          <a:lstStyle/>
          <a:p>
            <a:pPr indent="0" marL="0">
              <a:buNone/>
            </a:pPr>
            <a:r>
              <a:rPr lang="en-US" sz="1200" dirty="0">
                <a:solidFill>
                  <a:schemeClr val="tx1"/>
                </a:solidFill>
              </a:rPr>
              <a:t>陣痛なしの出生で肺の水の吸収が遅れる</a:t>
            </a:r>
            <a:endParaRPr lang="en-US" sz="1200" dirty="0"/>
          </a:p>
        </p:txBody>
      </p:sp>
      <p:sp>
        <p:nvSpPr>
          <p:cNvPr id="28" name="source"/>
          <p:cNvSpPr txBox="1"/>
          <p:nvPr/>
        </p:nvSpPr>
        <p:spPr>
          <a:xfrm>
            <a:off x="457200" y="4727448"/>
            <a:ext cx="7680960" cy="274320"/>
          </a:xfrm>
          <a:prstGeom prst="rect">
            <a:avLst/>
          </a:prstGeom>
          <a:noFill/>
          <a:ln/>
        </p:spPr>
        <p:txBody>
          <a:bodyPr wrap="square" lIns="0" tIns="0" rIns="0" bIns="0" rtlCol="0" anchor="ctr"/>
          <a:lstStyle/>
          <a:p>
            <a:pPr indent="0" marL="0">
              <a:buNone/>
            </a:pPr>
            <a:r>
              <a:rPr lang="en-US" sz="1300" dirty="0">
                <a:solidFill>
                  <a:schemeClr val="accent5"/>
                </a:solidFill>
              </a:rPr>
              <a:t>参考：産婦人科診療ガイドライン 産科編2023／病気がみえる vol.10 産科</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chemeClr val="tx2"/>
                </a:solidFill>
              </a:rPr>
              <a:t>胎児に先天性疾患がある場合の分娩</a:t>
            </a:r>
            <a:endParaRPr lang="en-US" sz="2600" dirty="0"/>
          </a:p>
        </p:txBody>
      </p:sp>
      <p:sp>
        <p:nvSpPr>
          <p:cNvPr id="3" name="Text 1"/>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700" b="1" dirty="0">
                <a:solidFill>
                  <a:schemeClr val="tx2"/>
                </a:solidFill>
              </a:rPr>
              <a:t>先天性疾患 ＝ 帝王切開、ではない</a:t>
            </a:r>
            <a:pPr indent="0" marL="0">
              <a:buNone/>
            </a:pPr>
            <a:r>
              <a:rPr lang="en-US" sz="1300" dirty="0">
                <a:solidFill>
                  <a:schemeClr val="tx1"/>
                </a:solidFill>
              </a:rPr>
              <a:t>　分娩方法は原則、産科的適応で決める</a:t>
            </a:r>
            <a:endParaRPr lang="en-US" sz="1700" dirty="0"/>
          </a:p>
        </p:txBody>
      </p:sp>
      <p:sp>
        <p:nvSpPr>
          <p:cNvPr id="4" name="plan-step-0"/>
          <p:cNvSpPr/>
          <p:nvPr/>
        </p:nvSpPr>
        <p:spPr>
          <a:xfrm>
            <a:off x="457200" y="1316736"/>
            <a:ext cx="2011680" cy="329184"/>
          </a:xfrm>
          <a:prstGeom prst="homePlate">
            <a:avLst/>
          </a:prstGeom>
          <a:solidFill>
            <a:schemeClr val="tx2"/>
          </a:solidFill>
          <a:ln/>
        </p:spPr>
      </p:sp>
      <p:sp>
        <p:nvSpPr>
          <p:cNvPr id="5" name="Text 3"/>
          <p:cNvSpPr txBox="1"/>
          <p:nvPr/>
        </p:nvSpPr>
        <p:spPr>
          <a:xfrm>
            <a:off x="457200" y="1316736"/>
            <a:ext cx="1847088" cy="329184"/>
          </a:xfrm>
          <a:prstGeom prst="rect">
            <a:avLst/>
          </a:prstGeom>
          <a:noFill/>
          <a:ln/>
        </p:spPr>
        <p:txBody>
          <a:bodyPr wrap="square" lIns="0" tIns="0" rIns="0" bIns="0" rtlCol="0" anchor="ctr"/>
          <a:lstStyle/>
          <a:p>
            <a:pPr algn="ctr" indent="0" marL="0">
              <a:buNone/>
            </a:pPr>
            <a:r>
              <a:rPr lang="en-US" sz="1300" b="1" dirty="0">
                <a:solidFill>
                  <a:schemeClr val="bg1"/>
                </a:solidFill>
              </a:rPr>
              <a:t>胎児診断</a:t>
            </a:r>
            <a:endParaRPr lang="en-US" sz="1300" dirty="0"/>
          </a:p>
        </p:txBody>
      </p:sp>
      <p:sp>
        <p:nvSpPr>
          <p:cNvPr id="6" name="plan-step-1"/>
          <p:cNvSpPr/>
          <p:nvPr/>
        </p:nvSpPr>
        <p:spPr>
          <a:xfrm>
            <a:off x="2532888" y="1316736"/>
            <a:ext cx="2011680" cy="329184"/>
          </a:xfrm>
          <a:prstGeom prst="chevron">
            <a:avLst/>
          </a:prstGeom>
          <a:solidFill>
            <a:schemeClr val="tx2"/>
          </a:solidFill>
          <a:ln/>
        </p:spPr>
      </p:sp>
      <p:sp>
        <p:nvSpPr>
          <p:cNvPr id="7" name="Text 5"/>
          <p:cNvSpPr txBox="1"/>
          <p:nvPr/>
        </p:nvSpPr>
        <p:spPr>
          <a:xfrm>
            <a:off x="2697480" y="1316736"/>
            <a:ext cx="1682496" cy="329184"/>
          </a:xfrm>
          <a:prstGeom prst="rect">
            <a:avLst/>
          </a:prstGeom>
          <a:noFill/>
          <a:ln/>
        </p:spPr>
        <p:txBody>
          <a:bodyPr wrap="square" lIns="0" tIns="0" rIns="0" bIns="0" rtlCol="0" anchor="ctr"/>
          <a:lstStyle/>
          <a:p>
            <a:pPr algn="ctr" indent="0" marL="0">
              <a:buNone/>
            </a:pPr>
            <a:r>
              <a:rPr lang="en-US" sz="1300" b="1" dirty="0">
                <a:solidFill>
                  <a:schemeClr val="bg1"/>
                </a:solidFill>
              </a:rPr>
              <a:t>周産期センターへ</a:t>
            </a:r>
            <a:endParaRPr lang="en-US" sz="1300" dirty="0"/>
          </a:p>
        </p:txBody>
      </p:sp>
      <p:sp>
        <p:nvSpPr>
          <p:cNvPr id="8" name="plan-step-2"/>
          <p:cNvSpPr/>
          <p:nvPr/>
        </p:nvSpPr>
        <p:spPr>
          <a:xfrm>
            <a:off x="4608576" y="1316736"/>
            <a:ext cx="2011680" cy="329184"/>
          </a:xfrm>
          <a:prstGeom prst="chevron">
            <a:avLst/>
          </a:prstGeom>
          <a:solidFill>
            <a:schemeClr val="tx2"/>
          </a:solidFill>
          <a:ln/>
        </p:spPr>
      </p:sp>
      <p:sp>
        <p:nvSpPr>
          <p:cNvPr id="9" name="Text 7"/>
          <p:cNvSpPr txBox="1"/>
          <p:nvPr/>
        </p:nvSpPr>
        <p:spPr>
          <a:xfrm>
            <a:off x="4773168" y="1316736"/>
            <a:ext cx="1682496" cy="329184"/>
          </a:xfrm>
          <a:prstGeom prst="rect">
            <a:avLst/>
          </a:prstGeom>
          <a:noFill/>
          <a:ln/>
        </p:spPr>
        <p:txBody>
          <a:bodyPr wrap="square" lIns="0" tIns="0" rIns="0" bIns="0" rtlCol="0" anchor="ctr"/>
          <a:lstStyle/>
          <a:p>
            <a:pPr algn="ctr" indent="0" marL="0">
              <a:buNone/>
            </a:pPr>
            <a:r>
              <a:rPr lang="en-US" sz="1300" b="1" dirty="0">
                <a:solidFill>
                  <a:schemeClr val="bg1"/>
                </a:solidFill>
              </a:rPr>
              <a:t>日時を決めて分娩</a:t>
            </a:r>
            <a:endParaRPr lang="en-US" sz="1300" dirty="0"/>
          </a:p>
        </p:txBody>
      </p:sp>
      <p:sp>
        <p:nvSpPr>
          <p:cNvPr id="10" name="plan-step-3"/>
          <p:cNvSpPr/>
          <p:nvPr/>
        </p:nvSpPr>
        <p:spPr>
          <a:xfrm>
            <a:off x="6684264" y="1316736"/>
            <a:ext cx="2011680" cy="329184"/>
          </a:xfrm>
          <a:prstGeom prst="chevron">
            <a:avLst/>
          </a:prstGeom>
          <a:solidFill>
            <a:schemeClr val="accent2"/>
          </a:solidFill>
          <a:ln/>
        </p:spPr>
      </p:sp>
      <p:sp>
        <p:nvSpPr>
          <p:cNvPr id="11" name="Text 9"/>
          <p:cNvSpPr txBox="1"/>
          <p:nvPr/>
        </p:nvSpPr>
        <p:spPr>
          <a:xfrm>
            <a:off x="6848856" y="1316736"/>
            <a:ext cx="1682496" cy="329184"/>
          </a:xfrm>
          <a:prstGeom prst="rect">
            <a:avLst/>
          </a:prstGeom>
          <a:noFill/>
          <a:ln/>
        </p:spPr>
        <p:txBody>
          <a:bodyPr wrap="square" lIns="0" tIns="0" rIns="0" bIns="0" rtlCol="0" anchor="ctr"/>
          <a:lstStyle/>
          <a:p>
            <a:pPr algn="ctr" indent="0" marL="0">
              <a:buNone/>
            </a:pPr>
            <a:r>
              <a:rPr lang="en-US" sz="1300" b="1" dirty="0">
                <a:solidFill>
                  <a:schemeClr val="bg1"/>
                </a:solidFill>
              </a:rPr>
              <a:t>出生直後から治療</a:t>
            </a:r>
            <a:endParaRPr lang="en-US" sz="1300" dirty="0"/>
          </a:p>
        </p:txBody>
      </p:sp>
      <p:sp>
        <p:nvSpPr>
          <p:cNvPr id="12" name="fetal-banner-rule"/>
          <p:cNvSpPr/>
          <p:nvPr/>
        </p:nvSpPr>
        <p:spPr>
          <a:xfrm>
            <a:off x="457200" y="1755648"/>
            <a:ext cx="8229600" cy="0"/>
          </a:xfrm>
          <a:prstGeom prst="line">
            <a:avLst/>
          </a:prstGeom>
          <a:noFill/>
          <a:ln w="12700">
            <a:solidFill>
              <a:srgbClr val="BFBFBF"/>
            </a:solidFill>
            <a:prstDash val="solid"/>
          </a:ln>
        </p:spPr>
      </p:sp>
      <p:sp>
        <p:nvSpPr>
          <p:cNvPr id="13" name="fetal-0-decor"/>
          <p:cNvSpPr/>
          <p:nvPr/>
        </p:nvSpPr>
        <p:spPr>
          <a:xfrm>
            <a:off x="2148840" y="1920240"/>
            <a:ext cx="822960" cy="822960"/>
          </a:xfrm>
          <a:prstGeom prst="ellipse">
            <a:avLst/>
          </a:prstGeom>
          <a:solidFill>
            <a:schemeClr val="tx2">
              <a:alpha val="5000"/>
            </a:schemeClr>
          </a:solidFill>
          <a:ln/>
        </p:spPr>
      </p:sp>
      <p:sp>
        <p:nvSpPr>
          <p:cNvPr id="14" name="fetal-0-rule"/>
          <p:cNvSpPr/>
          <p:nvPr/>
        </p:nvSpPr>
        <p:spPr>
          <a:xfrm>
            <a:off x="457200" y="4069080"/>
            <a:ext cx="2560320" cy="0"/>
          </a:xfrm>
          <a:prstGeom prst="line">
            <a:avLst/>
          </a:prstGeom>
          <a:noFill/>
          <a:ln w="12700">
            <a:solidFill>
              <a:srgbClr val="BFBFBF"/>
            </a:solidFill>
            <a:prstDash val="solid"/>
          </a:ln>
        </p:spPr>
      </p:sp>
      <p:sp>
        <p:nvSpPr>
          <p:cNvPr id="15" name="Text 13"/>
          <p:cNvSpPr txBox="1"/>
          <p:nvPr/>
        </p:nvSpPr>
        <p:spPr>
          <a:xfrm>
            <a:off x="457200" y="1874520"/>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横隔膜ヘルニア</a:t>
            </a:r>
            <a:endParaRPr lang="en-US" sz="1500" dirty="0"/>
          </a:p>
        </p:txBody>
      </p:sp>
      <p:sp>
        <p:nvSpPr>
          <p:cNvPr id="16" name="Text 14"/>
          <p:cNvSpPr txBox="1"/>
          <p:nvPr/>
        </p:nvSpPr>
        <p:spPr>
          <a:xfrm>
            <a:off x="457200" y="2423160"/>
            <a:ext cx="2560320" cy="15544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出生直後から挿管・呼吸管理が必要</a:t>
            </a:r>
            <a:endParaRPr lang="en-US" sz="1300" dirty="0"/>
          </a:p>
          <a:p>
            <a:pPr marL="152400" indent="-152400">
              <a:spcAft>
                <a:spcPts val="400"/>
              </a:spcAft>
              <a:buSzPct val="100000"/>
              <a:buChar char="•"/>
            </a:pPr>
            <a:r>
              <a:rPr lang="en-US" sz="1300" dirty="0">
                <a:solidFill>
                  <a:schemeClr val="tx1"/>
                </a:solidFill>
              </a:rPr>
              <a:t>NICU・小児外科のある施設で計画分娩</a:t>
            </a:r>
            <a:endParaRPr lang="en-US" sz="1300" dirty="0"/>
          </a:p>
          <a:p>
            <a:pPr marL="152400" indent="-152400">
              <a:spcAft>
                <a:spcPts val="400"/>
              </a:spcAft>
              <a:buSzPct val="100000"/>
              <a:buChar char="•"/>
            </a:pPr>
            <a:r>
              <a:rPr lang="en-US" sz="1300" dirty="0">
                <a:solidFill>
                  <a:schemeClr val="tx1"/>
                </a:solidFill>
              </a:rPr>
              <a:t>施設により予定帝王切開を選択</a:t>
            </a:r>
            <a:endParaRPr lang="en-US" sz="1300" dirty="0"/>
          </a:p>
        </p:txBody>
      </p:sp>
      <p:sp>
        <p:nvSpPr>
          <p:cNvPr id="17" name="fetal-1-decor"/>
          <p:cNvSpPr/>
          <p:nvPr/>
        </p:nvSpPr>
        <p:spPr>
          <a:xfrm>
            <a:off x="4983480" y="1920240"/>
            <a:ext cx="822960" cy="822960"/>
          </a:xfrm>
          <a:prstGeom prst="triangle">
            <a:avLst/>
          </a:prstGeom>
          <a:solidFill>
            <a:schemeClr val="tx2">
              <a:alpha val="5000"/>
            </a:schemeClr>
          </a:solidFill>
          <a:ln/>
        </p:spPr>
      </p:sp>
      <p:sp>
        <p:nvSpPr>
          <p:cNvPr id="18" name="fetal-1-rule"/>
          <p:cNvSpPr/>
          <p:nvPr/>
        </p:nvSpPr>
        <p:spPr>
          <a:xfrm>
            <a:off x="3291840" y="4069080"/>
            <a:ext cx="2560320" cy="0"/>
          </a:xfrm>
          <a:prstGeom prst="line">
            <a:avLst/>
          </a:prstGeom>
          <a:noFill/>
          <a:ln w="12700">
            <a:solidFill>
              <a:srgbClr val="BFBFBF"/>
            </a:solidFill>
            <a:prstDash val="solid"/>
          </a:ln>
        </p:spPr>
      </p:sp>
      <p:sp>
        <p:nvSpPr>
          <p:cNvPr id="19" name="Text 17"/>
          <p:cNvSpPr txBox="1"/>
          <p:nvPr/>
        </p:nvSpPr>
        <p:spPr>
          <a:xfrm>
            <a:off x="3291840" y="1874520"/>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肺動脈閉鎖・VSD</a:t>
            </a:r>
            <a:endParaRPr lang="en-US" sz="1500" dirty="0"/>
          </a:p>
        </p:txBody>
      </p:sp>
      <p:sp>
        <p:nvSpPr>
          <p:cNvPr id="20" name="Text 18"/>
          <p:cNvSpPr txBox="1"/>
          <p:nvPr/>
        </p:nvSpPr>
        <p:spPr>
          <a:xfrm>
            <a:off x="3291840" y="2423160"/>
            <a:ext cx="2560320" cy="15544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動脈管が閉じるとチアノーゼが悪化</a:t>
            </a:r>
            <a:endParaRPr lang="en-US" sz="1300" dirty="0"/>
          </a:p>
          <a:p>
            <a:pPr marL="152400" indent="-152400">
              <a:spcAft>
                <a:spcPts val="400"/>
              </a:spcAft>
              <a:buSzPct val="100000"/>
              <a:buChar char="•"/>
            </a:pPr>
            <a:r>
              <a:rPr lang="en-US" sz="1300" dirty="0">
                <a:solidFill>
                  <a:schemeClr val="tx1"/>
                </a:solidFill>
              </a:rPr>
              <a:t>出生後すぐPGE1製剤で動脈管を維持</a:t>
            </a:r>
            <a:endParaRPr lang="en-US" sz="1300" dirty="0"/>
          </a:p>
          <a:p>
            <a:pPr marL="152400" indent="-152400">
              <a:spcAft>
                <a:spcPts val="400"/>
              </a:spcAft>
              <a:buSzPct val="100000"/>
              <a:buChar char="•"/>
            </a:pPr>
            <a:r>
              <a:rPr lang="en-US" sz="1300" dirty="0">
                <a:solidFill>
                  <a:schemeClr val="tx1"/>
                </a:solidFill>
              </a:rPr>
              <a:t>小児循環器医の待機下で分娩</a:t>
            </a:r>
            <a:endParaRPr lang="en-US" sz="1300" dirty="0"/>
          </a:p>
        </p:txBody>
      </p:sp>
      <p:sp>
        <p:nvSpPr>
          <p:cNvPr id="21" name="fetal-2-decor"/>
          <p:cNvSpPr/>
          <p:nvPr/>
        </p:nvSpPr>
        <p:spPr>
          <a:xfrm>
            <a:off x="7818120" y="1920240"/>
            <a:ext cx="822960" cy="822960"/>
          </a:xfrm>
          <a:prstGeom prst="rect">
            <a:avLst/>
          </a:prstGeom>
          <a:solidFill>
            <a:schemeClr val="tx2">
              <a:alpha val="5000"/>
            </a:schemeClr>
          </a:solidFill>
          <a:ln/>
        </p:spPr>
      </p:sp>
      <p:sp>
        <p:nvSpPr>
          <p:cNvPr id="22" name="fetal-2-rule"/>
          <p:cNvSpPr/>
          <p:nvPr/>
        </p:nvSpPr>
        <p:spPr>
          <a:xfrm>
            <a:off x="6126480" y="4069080"/>
            <a:ext cx="2560320" cy="0"/>
          </a:xfrm>
          <a:prstGeom prst="line">
            <a:avLst/>
          </a:prstGeom>
          <a:noFill/>
          <a:ln w="12700">
            <a:solidFill>
              <a:srgbClr val="BFBFBF"/>
            </a:solidFill>
            <a:prstDash val="solid"/>
          </a:ln>
        </p:spPr>
      </p:sp>
      <p:sp>
        <p:nvSpPr>
          <p:cNvPr id="23" name="Text 21"/>
          <p:cNvSpPr txBox="1"/>
          <p:nvPr/>
        </p:nvSpPr>
        <p:spPr>
          <a:xfrm>
            <a:off x="6126480" y="1874520"/>
            <a:ext cx="2560320" cy="457200"/>
          </a:xfrm>
          <a:prstGeom prst="rect">
            <a:avLst/>
          </a:prstGeom>
          <a:noFill/>
          <a:ln/>
        </p:spPr>
        <p:txBody>
          <a:bodyPr wrap="square" lIns="0" tIns="0" rIns="0" bIns="0" rtlCol="0" anchor="ctr"/>
          <a:lstStyle/>
          <a:p>
            <a:pPr indent="0" marL="0">
              <a:buNone/>
            </a:pPr>
            <a:r>
              <a:rPr lang="en-US" sz="1500" b="1" dirty="0">
                <a:solidFill>
                  <a:schemeClr val="tx2"/>
                </a:solidFill>
              </a:rPr>
              <a:t>十二指腸閉鎖</a:t>
            </a:r>
            <a:endParaRPr lang="en-US" sz="1500" dirty="0"/>
          </a:p>
        </p:txBody>
      </p:sp>
      <p:sp>
        <p:nvSpPr>
          <p:cNvPr id="24" name="Text 22"/>
          <p:cNvSpPr txBox="1"/>
          <p:nvPr/>
        </p:nvSpPr>
        <p:spPr>
          <a:xfrm>
            <a:off x="6126480" y="2423160"/>
            <a:ext cx="2560320" cy="15544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羊水過多 → 早産・胎位異常</a:t>
            </a:r>
            <a:endParaRPr lang="en-US" sz="1300" dirty="0"/>
          </a:p>
          <a:p>
            <a:pPr marL="152400" indent="-152400">
              <a:spcAft>
                <a:spcPts val="400"/>
              </a:spcAft>
              <a:buSzPct val="100000"/>
              <a:buChar char="•"/>
            </a:pPr>
            <a:r>
              <a:rPr lang="en-US" sz="1300" dirty="0">
                <a:solidFill>
                  <a:schemeClr val="tx1"/>
                </a:solidFill>
              </a:rPr>
              <a:t>破水時の臍帯脱出・常位胎盤早期剝離、産後の弛緩出血に注意</a:t>
            </a:r>
            <a:endParaRPr lang="en-US" sz="1300" dirty="0"/>
          </a:p>
        </p:txBody>
      </p:sp>
      <p:sp>
        <p:nvSpPr>
          <p:cNvPr id="25" name="Text 23"/>
          <p:cNvSpPr txBox="1"/>
          <p:nvPr/>
        </p:nvSpPr>
        <p:spPr>
          <a:xfrm>
            <a:off x="457200" y="4187952"/>
            <a:ext cx="8229600" cy="411480"/>
          </a:xfrm>
          <a:prstGeom prst="rect">
            <a:avLst/>
          </a:prstGeom>
          <a:noFill/>
          <a:ln/>
        </p:spPr>
        <p:txBody>
          <a:bodyPr wrap="square" lIns="0" tIns="0" rIns="0" bIns="0" rtlCol="0" anchor="ctr"/>
          <a:lstStyle/>
          <a:p>
            <a:pPr indent="0" marL="0">
              <a:buNone/>
            </a:pPr>
            <a:r>
              <a:rPr lang="en-US" sz="1300" b="1" dirty="0">
                <a:solidFill>
                  <a:schemeClr val="tx2"/>
                </a:solidFill>
              </a:rPr>
              <a:t>帝王切開が選ばれやすい胎児疾患：</a:t>
            </a:r>
            <a:pPr indent="0" marL="0">
              <a:buNone/>
            </a:pPr>
            <a:r>
              <a:rPr lang="en-US" sz="1300" dirty="0">
                <a:solidFill>
                  <a:schemeClr val="tx1"/>
                </a:solidFill>
              </a:rPr>
              <a:t>巨大な腫瘤（仙尾部奇形腫など）、巨大臍帯ヘルニア、高度の水頭症 など</a:t>
            </a:r>
            <a:endParaRPr lang="en-US" sz="1300" dirty="0"/>
          </a:p>
        </p:txBody>
      </p:sp>
      <p:sp>
        <p:nvSpPr>
          <p:cNvPr id="26" name="source"/>
          <p:cNvSpPr txBox="1"/>
          <p:nvPr/>
        </p:nvSpPr>
        <p:spPr>
          <a:xfrm>
            <a:off x="457200" y="4727448"/>
            <a:ext cx="7680960" cy="274320"/>
          </a:xfrm>
          <a:prstGeom prst="rect">
            <a:avLst/>
          </a:prstGeom>
          <a:noFill/>
          <a:ln/>
        </p:spPr>
        <p:txBody>
          <a:bodyPr wrap="square" lIns="0" tIns="0" rIns="0" bIns="0" rtlCol="0" anchor="ctr"/>
          <a:lstStyle/>
          <a:p>
            <a:pPr indent="0" marL="0">
              <a:buNone/>
            </a:pPr>
            <a:r>
              <a:rPr lang="en-US" sz="1300" dirty="0">
                <a:solidFill>
                  <a:schemeClr val="accent5"/>
                </a:solidFill>
              </a:rPr>
              <a:t>参考：産婦人科診療ガイドライン 産科編2023／先天性横隔膜ヘルニア診療ガイドライン</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3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esarean Section">
  <a:themeElements>
    <a:clrScheme name="Cesarean Section">
      <a:dk1>
        <a:srgbClr val="262626"/>
      </a:dk1>
      <a:lt1>
        <a:srgbClr val="FFFFFF"/>
      </a:lt1>
      <a:dk2>
        <a:srgbClr val="7A2048"/>
      </a:dk2>
      <a:lt2>
        <a:srgbClr val="EFEFEF"/>
      </a:lt2>
      <a:accent1>
        <a:srgbClr val="7A2048"/>
      </a:accent1>
      <a:accent2>
        <a:srgbClr val="1F7A7A"/>
      </a:accent2>
      <a:accent3>
        <a:srgbClr val="C0392B"/>
      </a:accent3>
      <a:accent4>
        <a:srgbClr val="4D4D4D"/>
      </a:accent4>
      <a:accent5>
        <a:srgbClr val="666666"/>
      </a:accent5>
      <a:accent6>
        <a:srgbClr val="BFBFBF"/>
      </a:accent6>
      <a:hlink>
        <a:srgbClr val="1F7A7A"/>
      </a:hlink>
      <a:folHlink>
        <a:srgbClr val="7A2048"/>
      </a:folHlink>
    </a:clrScheme>
    <a:fontScheme name="Cesarean Section">
      <a:majorFont>
        <a:latin typeface="Arial"/>
        <a:ea typeface="Meiryo"/>
        <a:cs typeface=""/>
        <a:font script="Jpan" typeface="Meiryo"/>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Meiryo"/>
        <a:cs typeface=""/>
        <a:font script="Jpan" typeface="Meiryo"/>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⑤ 帝王切開について</dc:title>
  <dc:subject>PptxGenJS Presentation</dc:subject>
  <dc:creator>PptxGenJS</dc:creator>
  <cp:lastModifiedBy>PptxGenJS</cp:lastModifiedBy>
  <cp:revision>1</cp:revision>
  <dcterms:created xsi:type="dcterms:W3CDTF">2026-10-16T03:59:20Z</dcterms:created>
  <dcterms:modified xsi:type="dcterms:W3CDTF">2026-10-16T03:59:20Z</dcterms:modified>
</cp:coreProperties>
</file>